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notesMasterIdLst>
    <p:notesMasterId r:id="rId22"/>
  </p:notesMasterIdLst>
  <p:handoutMasterIdLst>
    <p:handoutMasterId r:id="rId23"/>
  </p:handout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3738" autoAdjust="0"/>
  </p:normalViewPr>
  <p:slideViewPr>
    <p:cSldViewPr snapToGrid="0">
      <p:cViewPr varScale="1">
        <p:scale>
          <a:sx n="69" d="100"/>
          <a:sy n="69" d="100"/>
        </p:scale>
        <p:origin x="-768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43D37DB5-F021-4DDD-AB38-CFE5924AA6B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E3867915-C17D-4F42-958E-E0C9D25BD97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091999-ED11-4A4C-BDE9-31A00EB9B5D3}" type="datetimeFigureOut">
              <a:rPr lang="en-ID" smtClean="0"/>
              <a:t>5/8/2018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071A300E-5F3C-43DA-99AE-4048D532D68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12C0002-86C7-41F6-B77A-14A2C754CD6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73D3C6-B018-4626-8968-47F8429A0D87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5488735"/>
      </p:ext>
    </p:extLst>
  </p:cSld>
  <p:clrMap bg1="lt1" tx1="dk1" bg2="lt2" tx2="dk2" accent1="accent1" accent2="accent2" accent3="accent3" accent4="accent4" accent5="accent5" accent6="accent6" hlink="hlink" folHlink="folHlink"/>
  <p:hf sldNum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D1D40F-C256-4EB8-9766-B614D2F1A30B}" type="datetimeFigureOut">
              <a:rPr lang="en-ID" smtClean="0"/>
              <a:t>5/8/2018</a:t>
            </a:fld>
            <a:endParaRPr lang="en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CAD3BF-B862-4275-9500-1D1A09E66B62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568822755"/>
      </p:ext>
    </p:extLst>
  </p:cSld>
  <p:clrMap bg1="lt1" tx1="dk1" bg2="lt2" tx2="dk2" accent1="accent1" accent2="accent2" accent3="accent3" accent4="accent4" accent5="accent5" accent6="accent6" hlink="hlink" folHlink="folHlink"/>
  <p:hf sldNum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9AB3A824-1A51-4B26-AD58-A6D8E14F6C04}" type="datetimeFigureOut">
              <a:rPr lang="en-US" smtClean="0"/>
              <a:t>5/8/2018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189666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D162C4-EDD9-4389-A98B-B87ECEA2A816}" type="datetimeFigureOut">
              <a:rPr lang="en-US" smtClean="0"/>
              <a:t>5/8/2018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7988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3E5059C3-6A89-4494-99FF-5A4D6FFD50EB}" type="datetimeFigureOut">
              <a:rPr lang="en-US" smtClean="0"/>
              <a:t>5/8/2018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6629206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954B2F-12DE-47F5-8894-472B206D2E1E}" type="datetimeFigureOut">
              <a:rPr lang="en-US" smtClean="0"/>
              <a:t>5/8/2018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596107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30E46F-7819-4ACF-B48B-48222C2ACC88}" type="datetimeFigureOut">
              <a:rPr lang="en-US" smtClean="0"/>
              <a:t>5/8/2018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645071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F3416-4057-4DAA-829D-4CA07428D088}" type="datetimeFigureOut">
              <a:rPr lang="en-US" smtClean="0"/>
              <a:t>5/8/2018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6585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1D9284-D300-4297-87F7-E791DCC15DB1}" type="datetimeFigureOut">
              <a:rPr lang="en-US" smtClean="0"/>
              <a:t>5/8/2018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1681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37D525BB-DA17-4BA0-B3C8-3AC3ABC827E6}" type="datetimeFigureOut">
              <a:rPr lang="en-US" smtClean="0"/>
              <a:t>5/8/2018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63194893"/>
      </p:ext>
    </p:extLst>
  </p:cSld>
  <p:clrMapOvr>
    <a:masterClrMapping/>
  </p:clrMapOvr>
  <p:extLst mod="1">
    <p:ext uri="{DCECCB84-F9BA-43D5-87BE-67443E8EF086}">
      <p15:sldGuideLst xmlns:p15="http://schemas.microsoft.com/office/powerpoint/2012/main" xmlns="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B16C4C9A-3960-41CF-A4E9-2A8FB932454B}" type="datetimeFigureOut">
              <a:rPr lang="en-US" smtClean="0"/>
              <a:t>5/8/2018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0210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7E33E-8B18-4087-B112-809917729534}" type="datetimeFigureOut">
              <a:rPr lang="en-US" smtClean="0"/>
              <a:t>5/8/2018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688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FFE419-2371-464F-8239-3959401C3561}" type="datetimeFigureOut">
              <a:rPr lang="en-US" smtClean="0"/>
              <a:t>5/8/2018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03237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3CBC1C18-307B-4F68-A007-B5B542270E8D}" type="datetimeFigureOut">
              <a:rPr lang="en-US" smtClean="0"/>
              <a:t>5/8/2018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505448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 xmlns="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5C42568-90C7-41F3-92DA-89E8852BAA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6791" y="2529623"/>
            <a:ext cx="10318418" cy="2824255"/>
          </a:xfrm>
        </p:spPr>
        <p:txBody>
          <a:bodyPr/>
          <a:lstStyle/>
          <a:p>
            <a:r>
              <a:rPr lang="en-ID" sz="8000" dirty="0"/>
              <a:t>RANCANG BANGUN </a:t>
            </a:r>
            <a:r>
              <a:rPr lang="en-ID" sz="4800" dirty="0"/>
              <a:t>APLIKASI ABSENSI MAHASISWA BERBASIS </a:t>
            </a:r>
            <a:r>
              <a:rPr lang="en-ID" sz="8000" dirty="0"/>
              <a:t>WEBSITE</a:t>
            </a:r>
            <a:r>
              <a:rPr lang="en-ID" dirty="0"/>
              <a:t/>
            </a:r>
            <a:br>
              <a:rPr lang="en-ID" dirty="0"/>
            </a:b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757F263E-9518-488F-B847-F30CD09D01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30593" y="5446643"/>
            <a:ext cx="8045373" cy="1208571"/>
          </a:xfrm>
        </p:spPr>
        <p:txBody>
          <a:bodyPr>
            <a:normAutofit/>
          </a:bodyPr>
          <a:lstStyle/>
          <a:p>
            <a:pPr algn="r"/>
            <a:r>
              <a:rPr lang="en-ID" dirty="0" err="1"/>
              <a:t>Disusun</a:t>
            </a:r>
            <a:r>
              <a:rPr lang="en-ID" dirty="0"/>
              <a:t> oleh :</a:t>
            </a:r>
          </a:p>
          <a:p>
            <a:pPr algn="r"/>
            <a:r>
              <a:rPr lang="en-ID" dirty="0"/>
              <a:t>Anna </a:t>
            </a:r>
            <a:r>
              <a:rPr lang="en-ID" dirty="0" err="1"/>
              <a:t>rahmawati</a:t>
            </a:r>
            <a:r>
              <a:rPr lang="en-ID" dirty="0"/>
              <a:t> (16350022)</a:t>
            </a:r>
          </a:p>
          <a:p>
            <a:pPr algn="r"/>
            <a:r>
              <a:rPr lang="en-ID" dirty="0"/>
              <a:t>Inggar </a:t>
            </a:r>
            <a:r>
              <a:rPr lang="en-ID" dirty="0" err="1"/>
              <a:t>ananto</a:t>
            </a:r>
            <a:r>
              <a:rPr lang="en-ID" dirty="0"/>
              <a:t> (16350021)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A0109D08-F9CA-4CFC-AE8A-5AA6CD88AC38}"/>
              </a:ext>
            </a:extLst>
          </p:cNvPr>
          <p:cNvSpPr txBox="1"/>
          <p:nvPr/>
        </p:nvSpPr>
        <p:spPr>
          <a:xfrm>
            <a:off x="299698" y="5701107"/>
            <a:ext cx="387157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D" sz="28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SISTEM INFORMASI </a:t>
            </a:r>
          </a:p>
          <a:p>
            <a:pPr algn="ctr"/>
            <a:r>
              <a:rPr lang="en-ID" sz="2800" b="1" dirty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ISTN</a:t>
            </a:r>
          </a:p>
        </p:txBody>
      </p:sp>
    </p:spTree>
    <p:extLst>
      <p:ext uri="{BB962C8B-B14F-4D97-AF65-F5344CB8AC3E}">
        <p14:creationId xmlns:p14="http://schemas.microsoft.com/office/powerpoint/2010/main" val="3891131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7C3E2343-FB15-41C0-8A8D-2A4CF493D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Bab </a:t>
            </a:r>
            <a:r>
              <a:rPr lang="en-ID" dirty="0" err="1"/>
              <a:t>i</a:t>
            </a:r>
            <a:endParaRPr lang="en-ID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AEE3475F-29F0-473D-ACB6-08930D6473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/>
              <a:t>PENDAHULUAN</a:t>
            </a:r>
          </a:p>
        </p:txBody>
      </p:sp>
    </p:spTree>
    <p:extLst>
      <p:ext uri="{BB962C8B-B14F-4D97-AF65-F5344CB8AC3E}">
        <p14:creationId xmlns:p14="http://schemas.microsoft.com/office/powerpoint/2010/main" val="51303004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spd="slow">
        <p15:prstTrans prst="crush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9275FA9-711A-46D2-A972-7289D5DAB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2634" y="244202"/>
            <a:ext cx="4844322" cy="797058"/>
          </a:xfrm>
        </p:spPr>
        <p:txBody>
          <a:bodyPr/>
          <a:lstStyle/>
          <a:p>
            <a:r>
              <a:rPr lang="en-ID" dirty="0" err="1"/>
              <a:t>Latar</a:t>
            </a:r>
            <a:r>
              <a:rPr lang="en-ID" dirty="0"/>
              <a:t> </a:t>
            </a:r>
            <a:r>
              <a:rPr lang="en-ID" dirty="0" err="1"/>
              <a:t>belakang</a:t>
            </a:r>
            <a:endParaRPr lang="en-ID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F0E385D-ACCB-45BE-A6B7-0DF84637BF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8226" y="1353649"/>
            <a:ext cx="10356574" cy="4861620"/>
          </a:xfrm>
        </p:spPr>
        <p:txBody>
          <a:bodyPr/>
          <a:lstStyle/>
          <a:p>
            <a:pPr marL="0" indent="0">
              <a:buNone/>
            </a:pPr>
            <a:r>
              <a:rPr lang="en-ID" dirty="0"/>
              <a:t>	</a:t>
            </a:r>
            <a:r>
              <a:rPr lang="en-ID" sz="2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Absensi</a:t>
            </a:r>
            <a:r>
              <a:rPr lang="en-ID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ID" sz="2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mahasiswa</a:t>
            </a:r>
            <a:r>
              <a:rPr lang="en-ID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ID" sz="2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merupakan</a:t>
            </a:r>
            <a:r>
              <a:rPr lang="en-ID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salah </a:t>
            </a:r>
            <a:r>
              <a:rPr lang="en-ID" sz="2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satu</a:t>
            </a:r>
            <a:r>
              <a:rPr lang="en-ID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ID" sz="2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elemen</a:t>
            </a:r>
            <a:r>
              <a:rPr lang="en-ID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ID" sz="2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terpenting</a:t>
            </a:r>
            <a:r>
              <a:rPr lang="en-ID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ID" sz="2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dalam</a:t>
            </a:r>
            <a:r>
              <a:rPr lang="en-ID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ID" sz="2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kegiatan</a:t>
            </a:r>
            <a:r>
              <a:rPr lang="en-ID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ID" sz="2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perkuliahan</a:t>
            </a:r>
            <a:r>
              <a:rPr lang="en-ID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. </a:t>
            </a:r>
            <a:r>
              <a:rPr lang="en-ID" sz="2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Buku</a:t>
            </a:r>
            <a:r>
              <a:rPr lang="en-ID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daftar </a:t>
            </a:r>
            <a:r>
              <a:rPr lang="en-ID" sz="2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hadir</a:t>
            </a:r>
            <a:r>
              <a:rPr lang="en-ID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ID" sz="2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merupakan</a:t>
            </a:r>
            <a:r>
              <a:rPr lang="en-ID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ID" sz="2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bukti</a:t>
            </a:r>
            <a:r>
              <a:rPr lang="en-ID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ID" sz="2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bahwa</a:t>
            </a:r>
            <a:r>
              <a:rPr lang="en-ID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ID" sz="2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mahasiswa</a:t>
            </a:r>
            <a:r>
              <a:rPr lang="en-ID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ID" sz="2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tersebut</a:t>
            </a:r>
            <a:r>
              <a:rPr lang="en-ID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ID" sz="2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telah</a:t>
            </a:r>
            <a:r>
              <a:rPr lang="en-ID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ID" sz="2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hadir</a:t>
            </a:r>
            <a:r>
              <a:rPr lang="en-ID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ID" sz="2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dalam</a:t>
            </a:r>
            <a:r>
              <a:rPr lang="en-ID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ID" sz="2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suatu</a:t>
            </a:r>
            <a:r>
              <a:rPr lang="en-ID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ID" sz="2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perkuliahan</a:t>
            </a:r>
            <a:r>
              <a:rPr lang="en-ID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. </a:t>
            </a:r>
            <a:r>
              <a:rPr lang="en-ID" sz="2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Jumlah</a:t>
            </a:r>
            <a:r>
              <a:rPr lang="en-ID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ID" sz="2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kehadiran</a:t>
            </a:r>
            <a:r>
              <a:rPr lang="en-ID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ID" sz="2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merupakan</a:t>
            </a:r>
            <a:r>
              <a:rPr lang="en-ID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ID" sz="2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suatu</a:t>
            </a:r>
            <a:r>
              <a:rPr lang="en-ID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ID" sz="2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pertimbangan</a:t>
            </a:r>
            <a:r>
              <a:rPr lang="en-ID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ID" sz="2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bagi</a:t>
            </a:r>
            <a:r>
              <a:rPr lang="en-ID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ID" sz="2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dosen</a:t>
            </a:r>
            <a:r>
              <a:rPr lang="en-ID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ID" sz="2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untuk</a:t>
            </a:r>
            <a:r>
              <a:rPr lang="en-ID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ID" sz="2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menentukan</a:t>
            </a:r>
            <a:r>
              <a:rPr lang="en-ID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ID" sz="2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nilai</a:t>
            </a:r>
            <a:r>
              <a:rPr lang="en-ID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ID" sz="2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bagi</a:t>
            </a:r>
            <a:r>
              <a:rPr lang="en-ID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ID" sz="2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mahasiswa</a:t>
            </a:r>
            <a:r>
              <a:rPr lang="en-ID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.</a:t>
            </a:r>
          </a:p>
          <a:p>
            <a:pPr marL="0" indent="0">
              <a:buNone/>
            </a:pPr>
            <a:r>
              <a:rPr lang="en-ID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	</a:t>
            </a:r>
            <a:r>
              <a:rPr lang="en-ID" sz="2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Dengan</a:t>
            </a:r>
            <a:r>
              <a:rPr lang="en-ID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system </a:t>
            </a:r>
            <a:r>
              <a:rPr lang="en-ID" sz="2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absensi</a:t>
            </a:r>
            <a:r>
              <a:rPr lang="en-ID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yang </a:t>
            </a:r>
            <a:r>
              <a:rPr lang="en-ID" sz="2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masih</a:t>
            </a:r>
            <a:r>
              <a:rPr lang="en-ID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ID" sz="2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menggunakan</a:t>
            </a:r>
            <a:r>
              <a:rPr lang="en-ID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system manual, proses </a:t>
            </a:r>
            <a:r>
              <a:rPr lang="en-ID" sz="2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pencatatan</a:t>
            </a:r>
            <a:r>
              <a:rPr lang="en-ID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ID" sz="2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kehadiran</a:t>
            </a:r>
            <a:r>
              <a:rPr lang="en-ID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ID" sz="2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mahasiswa</a:t>
            </a:r>
            <a:r>
              <a:rPr lang="en-ID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ID" sz="2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dapat</a:t>
            </a:r>
            <a:r>
              <a:rPr lang="en-ID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ID" sz="2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menimbulkan</a:t>
            </a:r>
            <a:r>
              <a:rPr lang="en-ID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ID" sz="2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beberapa</a:t>
            </a:r>
            <a:r>
              <a:rPr lang="en-ID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ID" sz="2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masalah</a:t>
            </a:r>
            <a:r>
              <a:rPr lang="en-ID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. Salah </a:t>
            </a:r>
            <a:r>
              <a:rPr lang="en-ID" sz="2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satunya</a:t>
            </a:r>
            <a:r>
              <a:rPr lang="en-ID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lain </a:t>
            </a:r>
            <a:r>
              <a:rPr lang="en-ID" sz="2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seringkali</a:t>
            </a:r>
            <a:r>
              <a:rPr lang="en-ID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ID" sz="2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mahasiswa</a:t>
            </a:r>
            <a:r>
              <a:rPr lang="en-ID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ID" sz="2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memanfaatkan</a:t>
            </a:r>
            <a:r>
              <a:rPr lang="en-ID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ID" sz="2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celah</a:t>
            </a:r>
            <a:r>
              <a:rPr lang="en-ID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dan </a:t>
            </a:r>
            <a:r>
              <a:rPr lang="en-ID" sz="2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bekerjasama</a:t>
            </a:r>
            <a:r>
              <a:rPr lang="en-ID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ID" sz="2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dengan</a:t>
            </a:r>
            <a:r>
              <a:rPr lang="en-ID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ID" sz="2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mahasiswa</a:t>
            </a:r>
            <a:r>
              <a:rPr lang="en-ID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ID" sz="2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lainnya</a:t>
            </a:r>
            <a:r>
              <a:rPr lang="en-ID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ID" sz="2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untuk</a:t>
            </a:r>
            <a:r>
              <a:rPr lang="en-ID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ID" sz="2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melakukan</a:t>
            </a:r>
            <a:r>
              <a:rPr lang="en-ID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ID" sz="2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kecurangan</a:t>
            </a:r>
            <a:r>
              <a:rPr lang="en-ID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, </a:t>
            </a:r>
            <a:r>
              <a:rPr lang="en-ID" sz="2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misalnya</a:t>
            </a:r>
            <a:r>
              <a:rPr lang="en-ID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ID" sz="2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mahasiswa</a:t>
            </a:r>
            <a:r>
              <a:rPr lang="en-ID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yang </a:t>
            </a:r>
            <a:r>
              <a:rPr lang="en-ID" sz="2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hadir</a:t>
            </a:r>
            <a:r>
              <a:rPr lang="en-ID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ID" sz="2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dalam</a:t>
            </a:r>
            <a:r>
              <a:rPr lang="en-ID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ID" sz="2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kelas</a:t>
            </a:r>
            <a:r>
              <a:rPr lang="en-ID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, </a:t>
            </a:r>
            <a:r>
              <a:rPr lang="en-ID" sz="2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sering</a:t>
            </a:r>
            <a:r>
              <a:rPr lang="en-ID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ID" sz="2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menandatangani</a:t>
            </a:r>
            <a:r>
              <a:rPr lang="en-ID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ID" sz="2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absensi</a:t>
            </a:r>
            <a:r>
              <a:rPr lang="en-ID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ID" sz="2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temannya</a:t>
            </a:r>
            <a:r>
              <a:rPr lang="en-ID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yang </a:t>
            </a:r>
            <a:r>
              <a:rPr lang="en-ID" sz="2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tidak</a:t>
            </a:r>
            <a:r>
              <a:rPr lang="en-ID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ID" sz="2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hadir</a:t>
            </a:r>
            <a:r>
              <a:rPr lang="en-ID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ID" sz="2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dalam</a:t>
            </a:r>
            <a:r>
              <a:rPr lang="en-ID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ID" sz="2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perkuliahan</a:t>
            </a:r>
            <a:r>
              <a:rPr lang="en-ID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. </a:t>
            </a:r>
            <a:r>
              <a:rPr lang="en-ID" sz="2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Untuk</a:t>
            </a:r>
            <a:r>
              <a:rPr lang="en-ID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ID" sz="2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itu</a:t>
            </a:r>
            <a:r>
              <a:rPr lang="en-ID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ID" sz="2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diperlukan</a:t>
            </a:r>
            <a:r>
              <a:rPr lang="en-ID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ID" sz="2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sebuah</a:t>
            </a:r>
            <a:r>
              <a:rPr lang="en-ID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system yang </a:t>
            </a:r>
            <a:r>
              <a:rPr lang="en-ID" sz="2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dapat</a:t>
            </a:r>
            <a:r>
              <a:rPr lang="en-ID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ID" sz="2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menangani</a:t>
            </a:r>
            <a:r>
              <a:rPr lang="en-ID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ID" sz="2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masalah</a:t>
            </a:r>
            <a:r>
              <a:rPr lang="en-ID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ID" sz="2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diatas</a:t>
            </a:r>
            <a:r>
              <a:rPr lang="en-ID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, </a:t>
            </a:r>
            <a:r>
              <a:rPr lang="en-ID" sz="2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yaitu</a:t>
            </a:r>
            <a:r>
              <a:rPr lang="en-ID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ID" sz="2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aplikasi</a:t>
            </a:r>
            <a:r>
              <a:rPr lang="en-ID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ID" sz="2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absensi</a:t>
            </a:r>
            <a:r>
              <a:rPr lang="en-ID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ID" sz="2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mahasiswa</a:t>
            </a:r>
            <a:r>
              <a:rPr lang="en-ID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</a:t>
            </a:r>
            <a:r>
              <a:rPr lang="en-ID" sz="2400" dirty="0" err="1">
                <a:solidFill>
                  <a:schemeClr val="tx2">
                    <a:lumMod val="90000"/>
                    <a:lumOff val="10000"/>
                  </a:schemeClr>
                </a:solidFill>
              </a:rPr>
              <a:t>berbasis</a:t>
            </a:r>
            <a:r>
              <a:rPr lang="en-ID" sz="2400" dirty="0">
                <a:solidFill>
                  <a:schemeClr val="tx2">
                    <a:lumMod val="90000"/>
                    <a:lumOff val="10000"/>
                  </a:schemeClr>
                </a:solidFill>
              </a:rPr>
              <a:t> website.</a:t>
            </a:r>
          </a:p>
        </p:txBody>
      </p:sp>
    </p:spTree>
    <p:extLst>
      <p:ext uri="{BB962C8B-B14F-4D97-AF65-F5344CB8AC3E}">
        <p14:creationId xmlns:p14="http://schemas.microsoft.com/office/powerpoint/2010/main" val="111933858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spd="med">
        <p15:prstTrans prst="pageCurlDouble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B773895-CD72-45FC-896B-A07BA9AC06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7112" y="5236266"/>
            <a:ext cx="3092115" cy="1338469"/>
          </a:xfrm>
        </p:spPr>
        <p:txBody>
          <a:bodyPr>
            <a:normAutofit/>
          </a:bodyPr>
          <a:lstStyle/>
          <a:p>
            <a:r>
              <a:rPr lang="en-ID" sz="3600" dirty="0" err="1"/>
              <a:t>Rumusan</a:t>
            </a:r>
            <a:r>
              <a:rPr lang="en-ID" sz="3600" dirty="0"/>
              <a:t> </a:t>
            </a:r>
            <a:r>
              <a:rPr lang="en-ID" sz="3600" dirty="0" err="1"/>
              <a:t>masalah</a:t>
            </a:r>
            <a:endParaRPr lang="en-ID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46256EB-7C06-4D64-B02D-33A6E90812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203" y="554616"/>
            <a:ext cx="6487371" cy="545228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D" sz="3600" dirty="0">
                <a:solidFill>
                  <a:schemeClr val="tx1"/>
                </a:solidFill>
              </a:rPr>
              <a:t> </a:t>
            </a:r>
            <a:r>
              <a:rPr lang="en-ID" sz="3600" dirty="0" err="1">
                <a:solidFill>
                  <a:schemeClr val="tx1"/>
                </a:solidFill>
              </a:rPr>
              <a:t>Dengan</a:t>
            </a:r>
            <a:r>
              <a:rPr lang="en-ID" sz="3600" dirty="0">
                <a:solidFill>
                  <a:schemeClr val="tx1"/>
                </a:solidFill>
              </a:rPr>
              <a:t> </a:t>
            </a:r>
            <a:r>
              <a:rPr lang="en-ID" sz="3600" dirty="0" err="1">
                <a:solidFill>
                  <a:schemeClr val="tx1"/>
                </a:solidFill>
              </a:rPr>
              <a:t>melihat</a:t>
            </a:r>
            <a:r>
              <a:rPr lang="en-ID" sz="3600" dirty="0">
                <a:solidFill>
                  <a:schemeClr val="tx1"/>
                </a:solidFill>
              </a:rPr>
              <a:t> </a:t>
            </a:r>
            <a:r>
              <a:rPr lang="en-ID" sz="3600" dirty="0" err="1">
                <a:solidFill>
                  <a:schemeClr val="tx1"/>
                </a:solidFill>
              </a:rPr>
              <a:t>latar</a:t>
            </a:r>
            <a:r>
              <a:rPr lang="en-ID" sz="3600" dirty="0">
                <a:solidFill>
                  <a:schemeClr val="tx1"/>
                </a:solidFill>
              </a:rPr>
              <a:t> </a:t>
            </a:r>
            <a:r>
              <a:rPr lang="en-ID" sz="3600" dirty="0" err="1">
                <a:solidFill>
                  <a:schemeClr val="tx1"/>
                </a:solidFill>
              </a:rPr>
              <a:t>belakang</a:t>
            </a:r>
            <a:r>
              <a:rPr lang="en-ID" sz="3600" dirty="0">
                <a:solidFill>
                  <a:schemeClr val="tx1"/>
                </a:solidFill>
              </a:rPr>
              <a:t> </a:t>
            </a:r>
          </a:p>
          <a:p>
            <a:pPr marL="0" indent="0" algn="ctr">
              <a:buNone/>
            </a:pPr>
            <a:r>
              <a:rPr lang="en-ID" sz="3600" dirty="0" err="1">
                <a:solidFill>
                  <a:schemeClr val="tx1"/>
                </a:solidFill>
              </a:rPr>
              <a:t>diatas</a:t>
            </a:r>
            <a:r>
              <a:rPr lang="en-ID" sz="3600" dirty="0">
                <a:solidFill>
                  <a:schemeClr val="tx1"/>
                </a:solidFill>
              </a:rPr>
              <a:t>, </a:t>
            </a:r>
            <a:r>
              <a:rPr lang="en-ID" sz="3600" dirty="0" err="1">
                <a:solidFill>
                  <a:schemeClr val="tx1"/>
                </a:solidFill>
              </a:rPr>
              <a:t>maka</a:t>
            </a:r>
            <a:r>
              <a:rPr lang="en-ID" sz="3600" dirty="0">
                <a:solidFill>
                  <a:schemeClr val="tx1"/>
                </a:solidFill>
              </a:rPr>
              <a:t> </a:t>
            </a:r>
            <a:r>
              <a:rPr lang="en-ID" sz="3600" dirty="0" err="1">
                <a:solidFill>
                  <a:schemeClr val="tx1"/>
                </a:solidFill>
              </a:rPr>
              <a:t>rumusan</a:t>
            </a:r>
            <a:r>
              <a:rPr lang="en-ID" sz="3600" dirty="0">
                <a:solidFill>
                  <a:schemeClr val="tx1"/>
                </a:solidFill>
              </a:rPr>
              <a:t> </a:t>
            </a:r>
            <a:r>
              <a:rPr lang="en-ID" sz="3600" dirty="0" err="1">
                <a:solidFill>
                  <a:schemeClr val="tx1"/>
                </a:solidFill>
              </a:rPr>
              <a:t>masalah</a:t>
            </a:r>
            <a:r>
              <a:rPr lang="en-ID" sz="3600" dirty="0">
                <a:solidFill>
                  <a:schemeClr val="tx1"/>
                </a:solidFill>
              </a:rPr>
              <a:t> </a:t>
            </a:r>
            <a:r>
              <a:rPr lang="en-ID" sz="3600" dirty="0" err="1">
                <a:solidFill>
                  <a:schemeClr val="tx1"/>
                </a:solidFill>
              </a:rPr>
              <a:t>dalam</a:t>
            </a:r>
            <a:r>
              <a:rPr lang="en-ID" sz="3600" dirty="0">
                <a:solidFill>
                  <a:schemeClr val="tx1"/>
                </a:solidFill>
              </a:rPr>
              <a:t>  </a:t>
            </a:r>
            <a:r>
              <a:rPr lang="en-ID" sz="3600" dirty="0" err="1">
                <a:solidFill>
                  <a:schemeClr val="tx1"/>
                </a:solidFill>
              </a:rPr>
              <a:t>proyek</a:t>
            </a:r>
            <a:r>
              <a:rPr lang="en-ID" sz="3600" dirty="0">
                <a:solidFill>
                  <a:schemeClr val="tx1"/>
                </a:solidFill>
              </a:rPr>
              <a:t> </a:t>
            </a:r>
            <a:r>
              <a:rPr lang="en-ID" sz="3600" dirty="0" err="1">
                <a:solidFill>
                  <a:schemeClr val="tx1"/>
                </a:solidFill>
              </a:rPr>
              <a:t>ini</a:t>
            </a:r>
            <a:r>
              <a:rPr lang="en-ID" sz="3600" dirty="0">
                <a:solidFill>
                  <a:schemeClr val="tx1"/>
                </a:solidFill>
              </a:rPr>
              <a:t> </a:t>
            </a:r>
            <a:r>
              <a:rPr lang="en-ID" sz="3600" dirty="0" err="1">
                <a:solidFill>
                  <a:schemeClr val="tx1"/>
                </a:solidFill>
              </a:rPr>
              <a:t>adalah</a:t>
            </a:r>
            <a:r>
              <a:rPr lang="en-ID" sz="3600" dirty="0">
                <a:solidFill>
                  <a:schemeClr val="tx1"/>
                </a:solidFill>
              </a:rPr>
              <a:t> ” </a:t>
            </a:r>
            <a:r>
              <a:rPr lang="en-ID" sz="3600" dirty="0" err="1">
                <a:solidFill>
                  <a:schemeClr val="tx1"/>
                </a:solidFill>
              </a:rPr>
              <a:t>Bagaiamana</a:t>
            </a:r>
            <a:r>
              <a:rPr lang="en-ID" sz="3600" dirty="0">
                <a:solidFill>
                  <a:schemeClr val="tx1"/>
                </a:solidFill>
              </a:rPr>
              <a:t> </a:t>
            </a:r>
            <a:r>
              <a:rPr lang="en-ID" sz="3600" dirty="0" err="1">
                <a:solidFill>
                  <a:schemeClr val="tx1"/>
                </a:solidFill>
              </a:rPr>
              <a:t>Merancang</a:t>
            </a:r>
            <a:r>
              <a:rPr lang="en-ID" sz="3600" dirty="0">
                <a:solidFill>
                  <a:schemeClr val="tx1"/>
                </a:solidFill>
              </a:rPr>
              <a:t> dan </a:t>
            </a:r>
          </a:p>
          <a:p>
            <a:pPr marL="0" indent="0" algn="ctr">
              <a:buNone/>
            </a:pPr>
            <a:r>
              <a:rPr lang="en-ID" sz="3600" dirty="0" err="1">
                <a:solidFill>
                  <a:schemeClr val="tx1"/>
                </a:solidFill>
              </a:rPr>
              <a:t>Membuat</a:t>
            </a:r>
            <a:r>
              <a:rPr lang="en-ID" sz="3600" dirty="0">
                <a:solidFill>
                  <a:schemeClr val="tx1"/>
                </a:solidFill>
              </a:rPr>
              <a:t> </a:t>
            </a:r>
            <a:r>
              <a:rPr lang="en-ID" sz="3600" dirty="0" err="1">
                <a:solidFill>
                  <a:schemeClr val="tx1"/>
                </a:solidFill>
              </a:rPr>
              <a:t>Sistem</a:t>
            </a:r>
            <a:r>
              <a:rPr lang="en-ID" sz="3600" dirty="0">
                <a:solidFill>
                  <a:schemeClr val="tx1"/>
                </a:solidFill>
              </a:rPr>
              <a:t> </a:t>
            </a:r>
            <a:r>
              <a:rPr lang="en-ID" sz="3600" dirty="0" err="1">
                <a:solidFill>
                  <a:schemeClr val="tx1"/>
                </a:solidFill>
              </a:rPr>
              <a:t>Informasi</a:t>
            </a:r>
            <a:r>
              <a:rPr lang="en-ID" sz="3600" dirty="0">
                <a:solidFill>
                  <a:schemeClr val="tx1"/>
                </a:solidFill>
              </a:rPr>
              <a:t> </a:t>
            </a:r>
            <a:r>
              <a:rPr lang="en-ID" sz="3600" dirty="0" err="1">
                <a:solidFill>
                  <a:schemeClr val="tx1"/>
                </a:solidFill>
              </a:rPr>
              <a:t>Absensi</a:t>
            </a:r>
            <a:r>
              <a:rPr lang="en-ID" sz="3600" dirty="0">
                <a:solidFill>
                  <a:schemeClr val="tx1"/>
                </a:solidFill>
              </a:rPr>
              <a:t> </a:t>
            </a:r>
            <a:r>
              <a:rPr lang="en-ID" sz="3600" dirty="0" err="1">
                <a:solidFill>
                  <a:schemeClr val="tx1"/>
                </a:solidFill>
              </a:rPr>
              <a:t>Mahasiswa</a:t>
            </a:r>
            <a:r>
              <a:rPr lang="en-ID" sz="3600" dirty="0">
                <a:solidFill>
                  <a:schemeClr val="tx1"/>
                </a:solidFill>
              </a:rPr>
              <a:t> </a:t>
            </a:r>
          </a:p>
          <a:p>
            <a:pPr marL="0" indent="0" algn="ctr">
              <a:buNone/>
            </a:pPr>
            <a:r>
              <a:rPr lang="en-ID" sz="3600" dirty="0" err="1">
                <a:solidFill>
                  <a:schemeClr val="tx1"/>
                </a:solidFill>
              </a:rPr>
              <a:t>Berbasis</a:t>
            </a:r>
            <a:r>
              <a:rPr lang="en-ID" sz="3600" dirty="0">
                <a:solidFill>
                  <a:schemeClr val="tx1"/>
                </a:solidFill>
              </a:rPr>
              <a:t> Web ”</a:t>
            </a:r>
            <a:r>
              <a:rPr lang="id-ID" sz="3600" dirty="0">
                <a:solidFill>
                  <a:schemeClr val="tx1"/>
                </a:solidFill>
              </a:rPr>
              <a:t>.</a:t>
            </a:r>
            <a:endParaRPr lang="en-ID" sz="36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94978295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spd="med">
        <p15:prstTrans prst="peelOff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8FC7236-1ABD-47D5-AFFA-91F6AF215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4834" y="322041"/>
            <a:ext cx="3092115" cy="1196671"/>
          </a:xfrm>
        </p:spPr>
        <p:txBody>
          <a:bodyPr>
            <a:normAutofit fontScale="90000"/>
          </a:bodyPr>
          <a:lstStyle/>
          <a:p>
            <a:pPr algn="ctr"/>
            <a:r>
              <a:rPr lang="en-ID" sz="4000" dirty="0"/>
              <a:t>Batasan </a:t>
            </a:r>
            <a:r>
              <a:rPr lang="en-ID" sz="4000" dirty="0" err="1"/>
              <a:t>masalah</a:t>
            </a:r>
            <a:endParaRPr lang="en-ID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1381898-F072-4620-9955-A5F22D3F4D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ID" dirty="0" err="1">
                <a:solidFill>
                  <a:schemeClr val="tx1"/>
                </a:solidFill>
              </a:rPr>
              <a:t>Dalam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perancangan</a:t>
            </a:r>
            <a:r>
              <a:rPr lang="en-ID" dirty="0">
                <a:solidFill>
                  <a:schemeClr val="tx1"/>
                </a:solidFill>
              </a:rPr>
              <a:t> dan </a:t>
            </a:r>
            <a:r>
              <a:rPr lang="en-ID" dirty="0" err="1">
                <a:solidFill>
                  <a:schemeClr val="tx1"/>
                </a:solidFill>
              </a:rPr>
              <a:t>pembuatan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aplikasi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ini</a:t>
            </a:r>
            <a:r>
              <a:rPr lang="en-ID" dirty="0">
                <a:solidFill>
                  <a:schemeClr val="tx1"/>
                </a:solidFill>
              </a:rPr>
              <a:t>, </a:t>
            </a:r>
            <a:r>
              <a:rPr lang="en-ID" dirty="0" err="1">
                <a:solidFill>
                  <a:schemeClr val="tx1"/>
                </a:solidFill>
              </a:rPr>
              <a:t>terdapat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beberapa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batasan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masalah</a:t>
            </a:r>
            <a:r>
              <a:rPr lang="en-ID" dirty="0">
                <a:solidFill>
                  <a:schemeClr val="tx1"/>
                </a:solidFill>
              </a:rPr>
              <a:t>, </a:t>
            </a:r>
            <a:r>
              <a:rPr lang="en-ID" dirty="0" err="1">
                <a:solidFill>
                  <a:schemeClr val="tx1"/>
                </a:solidFill>
              </a:rPr>
              <a:t>antara</a:t>
            </a:r>
            <a:r>
              <a:rPr lang="en-ID" dirty="0">
                <a:solidFill>
                  <a:schemeClr val="tx1"/>
                </a:solidFill>
              </a:rPr>
              <a:t> lain :</a:t>
            </a:r>
          </a:p>
          <a:p>
            <a:pPr lvl="0"/>
            <a:r>
              <a:rPr lang="en-ID" dirty="0" err="1">
                <a:solidFill>
                  <a:schemeClr val="tx1"/>
                </a:solidFill>
              </a:rPr>
              <a:t>Pengguna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absensi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berbasis</a:t>
            </a:r>
            <a:r>
              <a:rPr lang="en-ID" dirty="0">
                <a:solidFill>
                  <a:schemeClr val="tx1"/>
                </a:solidFill>
              </a:rPr>
              <a:t> website </a:t>
            </a:r>
            <a:r>
              <a:rPr lang="en-ID" dirty="0" err="1">
                <a:solidFill>
                  <a:schemeClr val="tx1"/>
                </a:solidFill>
              </a:rPr>
              <a:t>ini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hanya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dipergunakan</a:t>
            </a:r>
            <a:r>
              <a:rPr lang="en-ID" dirty="0">
                <a:solidFill>
                  <a:schemeClr val="tx1"/>
                </a:solidFill>
              </a:rPr>
              <a:t> pada Prodi </a:t>
            </a:r>
            <a:r>
              <a:rPr lang="en-ID" dirty="0" err="1">
                <a:solidFill>
                  <a:schemeClr val="tx1"/>
                </a:solidFill>
              </a:rPr>
              <a:t>Sistem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Informasi</a:t>
            </a:r>
            <a:r>
              <a:rPr lang="en-ID" dirty="0">
                <a:solidFill>
                  <a:schemeClr val="tx1"/>
                </a:solidFill>
              </a:rPr>
              <a:t> ISTN.</a:t>
            </a:r>
          </a:p>
          <a:p>
            <a:pPr lvl="0"/>
            <a:r>
              <a:rPr lang="en-ID" dirty="0" err="1">
                <a:solidFill>
                  <a:schemeClr val="tx1"/>
                </a:solidFill>
              </a:rPr>
              <a:t>Pengguna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absensi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berbasis</a:t>
            </a:r>
            <a:r>
              <a:rPr lang="en-ID" dirty="0">
                <a:solidFill>
                  <a:schemeClr val="tx1"/>
                </a:solidFill>
              </a:rPr>
              <a:t> website </a:t>
            </a:r>
            <a:r>
              <a:rPr lang="en-ID" dirty="0" err="1">
                <a:solidFill>
                  <a:schemeClr val="tx1"/>
                </a:solidFill>
              </a:rPr>
              <a:t>ini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hanya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dipergunakan</a:t>
            </a:r>
            <a:r>
              <a:rPr lang="en-ID" dirty="0">
                <a:solidFill>
                  <a:schemeClr val="tx1"/>
                </a:solidFill>
              </a:rPr>
              <a:t> oleh admin (Develop Web) dan user (</a:t>
            </a:r>
            <a:r>
              <a:rPr lang="en-ID" dirty="0" err="1">
                <a:solidFill>
                  <a:schemeClr val="tx1"/>
                </a:solidFill>
              </a:rPr>
              <a:t>Dosen</a:t>
            </a:r>
            <a:r>
              <a:rPr lang="en-ID" dirty="0">
                <a:solidFill>
                  <a:schemeClr val="tx1"/>
                </a:solidFill>
              </a:rPr>
              <a:t> SI ISTN)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021090143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xmlns="" id="{5AD354BE-3DFB-4872-A535-288F8C6D1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381" y="140804"/>
            <a:ext cx="6155237" cy="811696"/>
          </a:xfrm>
        </p:spPr>
        <p:txBody>
          <a:bodyPr/>
          <a:lstStyle/>
          <a:p>
            <a:r>
              <a:rPr lang="en-ID" dirty="0" err="1"/>
              <a:t>Tujuan</a:t>
            </a:r>
            <a:r>
              <a:rPr lang="en-ID" dirty="0"/>
              <a:t> dan </a:t>
            </a:r>
            <a:r>
              <a:rPr lang="en-ID" dirty="0" err="1"/>
              <a:t>manfaat</a:t>
            </a:r>
            <a:endParaRPr lang="en-ID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xmlns="" id="{AAB6E704-C9A9-46B4-947D-96526F76C7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57300" y="1220889"/>
            <a:ext cx="1666659" cy="473275"/>
          </a:xfrm>
        </p:spPr>
        <p:txBody>
          <a:bodyPr/>
          <a:lstStyle/>
          <a:p>
            <a:r>
              <a:rPr lang="en-ID" sz="2400" dirty="0"/>
              <a:t>TUJUAN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xmlns="" id="{31F2D094-75DE-4420-B8BA-DF55B487D3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95399" y="1795920"/>
            <a:ext cx="4800600" cy="299639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D" sz="3100" dirty="0" err="1">
                <a:solidFill>
                  <a:schemeClr val="tx1"/>
                </a:solidFill>
              </a:rPr>
              <a:t>Tujuan</a:t>
            </a:r>
            <a:r>
              <a:rPr lang="id-ID" sz="3100" dirty="0">
                <a:solidFill>
                  <a:schemeClr val="tx1"/>
                </a:solidFill>
              </a:rPr>
              <a:t> dari Absensi berbasis web :</a:t>
            </a:r>
            <a:endParaRPr lang="en-ID" sz="3100" dirty="0">
              <a:solidFill>
                <a:schemeClr val="tx1"/>
              </a:solidFill>
            </a:endParaRPr>
          </a:p>
          <a:p>
            <a:pPr lvl="0"/>
            <a:r>
              <a:rPr lang="id-ID" sz="3100" dirty="0">
                <a:solidFill>
                  <a:schemeClr val="tx1"/>
                </a:solidFill>
              </a:rPr>
              <a:t>Membuat sistem</a:t>
            </a:r>
            <a:r>
              <a:rPr lang="en-ID" sz="3100" dirty="0">
                <a:solidFill>
                  <a:schemeClr val="tx1"/>
                </a:solidFill>
              </a:rPr>
              <a:t> yang </a:t>
            </a:r>
            <a:r>
              <a:rPr lang="id-ID" sz="3100" dirty="0">
                <a:solidFill>
                  <a:schemeClr val="tx1"/>
                </a:solidFill>
              </a:rPr>
              <a:t>dapat mempermudah rekap </a:t>
            </a:r>
            <a:r>
              <a:rPr lang="en-ID" sz="3100" dirty="0" err="1">
                <a:solidFill>
                  <a:schemeClr val="tx1"/>
                </a:solidFill>
              </a:rPr>
              <a:t>mahasiswa</a:t>
            </a:r>
            <a:r>
              <a:rPr lang="en-ID" sz="3100" dirty="0">
                <a:solidFill>
                  <a:schemeClr val="tx1"/>
                </a:solidFill>
              </a:rPr>
              <a:t> per </a:t>
            </a:r>
            <a:r>
              <a:rPr lang="en-ID" sz="3100" dirty="0" err="1">
                <a:solidFill>
                  <a:schemeClr val="tx1"/>
                </a:solidFill>
              </a:rPr>
              <a:t>mata</a:t>
            </a:r>
            <a:r>
              <a:rPr lang="en-ID" sz="3100" dirty="0">
                <a:solidFill>
                  <a:schemeClr val="tx1"/>
                </a:solidFill>
              </a:rPr>
              <a:t> </a:t>
            </a:r>
            <a:r>
              <a:rPr lang="en-ID" sz="3100" dirty="0" err="1">
                <a:solidFill>
                  <a:schemeClr val="tx1"/>
                </a:solidFill>
              </a:rPr>
              <a:t>kuliahnya</a:t>
            </a:r>
            <a:r>
              <a:rPr lang="en-ID" sz="3100" dirty="0">
                <a:solidFill>
                  <a:schemeClr val="tx1"/>
                </a:solidFill>
              </a:rPr>
              <a:t>.</a:t>
            </a:r>
          </a:p>
          <a:p>
            <a:pPr lvl="0"/>
            <a:r>
              <a:rPr lang="id-ID" sz="3100" dirty="0">
                <a:solidFill>
                  <a:schemeClr val="tx1"/>
                </a:solidFill>
              </a:rPr>
              <a:t>Membuat sistem</a:t>
            </a:r>
            <a:r>
              <a:rPr lang="en-ID" sz="3100" dirty="0">
                <a:solidFill>
                  <a:schemeClr val="tx1"/>
                </a:solidFill>
              </a:rPr>
              <a:t> yang </a:t>
            </a:r>
            <a:r>
              <a:rPr lang="id-ID" sz="3100" dirty="0">
                <a:solidFill>
                  <a:schemeClr val="tx1"/>
                </a:solidFill>
              </a:rPr>
              <a:t>dapat mempermudah pencarian data </a:t>
            </a:r>
            <a:r>
              <a:rPr lang="en-ID" sz="3100" dirty="0" err="1">
                <a:solidFill>
                  <a:schemeClr val="tx1"/>
                </a:solidFill>
              </a:rPr>
              <a:t>mahasiswa</a:t>
            </a:r>
            <a:r>
              <a:rPr lang="id-ID" sz="3100" dirty="0">
                <a:solidFill>
                  <a:schemeClr val="tx1"/>
                </a:solidFill>
              </a:rPr>
              <a:t> di </a:t>
            </a:r>
            <a:r>
              <a:rPr lang="en-ID" sz="3100" dirty="0">
                <a:solidFill>
                  <a:schemeClr val="tx1"/>
                </a:solidFill>
              </a:rPr>
              <a:t>database </a:t>
            </a:r>
            <a:r>
              <a:rPr lang="en-ID" sz="3100" dirty="0" err="1">
                <a:solidFill>
                  <a:schemeClr val="tx1"/>
                </a:solidFill>
              </a:rPr>
              <a:t>jurusan</a:t>
            </a:r>
            <a:r>
              <a:rPr lang="id-ID" sz="3100" dirty="0">
                <a:solidFill>
                  <a:schemeClr val="tx1"/>
                </a:solidFill>
              </a:rPr>
              <a:t>.</a:t>
            </a:r>
            <a:endParaRPr lang="en-ID" sz="3100" dirty="0">
              <a:solidFill>
                <a:schemeClr val="tx1"/>
              </a:solidFill>
            </a:endParaRPr>
          </a:p>
          <a:p>
            <a:endParaRPr lang="en-ID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xmlns="" id="{9F28C40E-4377-4D3E-99AD-81EC4ACC63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2890" y="1220889"/>
            <a:ext cx="2019806" cy="460023"/>
          </a:xfrm>
        </p:spPr>
        <p:txBody>
          <a:bodyPr/>
          <a:lstStyle/>
          <a:p>
            <a:r>
              <a:rPr lang="en-ID" sz="2400" dirty="0"/>
              <a:t>MANFAAT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xmlns="" id="{2CF54394-4932-4542-9B02-A26FE1CF8B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33864" y="1795920"/>
            <a:ext cx="4800600" cy="4921276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id-ID" sz="2800" dirty="0">
                <a:solidFill>
                  <a:schemeClr val="tx1"/>
                </a:solidFill>
              </a:rPr>
              <a:t>Ada pun </a:t>
            </a:r>
            <a:r>
              <a:rPr lang="en-ID" sz="2800" dirty="0" err="1">
                <a:solidFill>
                  <a:schemeClr val="tx1"/>
                </a:solidFill>
              </a:rPr>
              <a:t>Manfaat</a:t>
            </a:r>
            <a:r>
              <a:rPr lang="id-ID" sz="2800" dirty="0">
                <a:solidFill>
                  <a:schemeClr val="tx1"/>
                </a:solidFill>
              </a:rPr>
              <a:t> dari Absensi berbasis</a:t>
            </a:r>
            <a:r>
              <a:rPr lang="en-ID" sz="2800" dirty="0">
                <a:solidFill>
                  <a:schemeClr val="tx1"/>
                </a:solidFill>
              </a:rPr>
              <a:t> web :</a:t>
            </a:r>
          </a:p>
          <a:p>
            <a:pPr lvl="0"/>
            <a:r>
              <a:rPr lang="id-ID" sz="2800" dirty="0">
                <a:solidFill>
                  <a:schemeClr val="tx1"/>
                </a:solidFill>
              </a:rPr>
              <a:t>Membangun dan meningkatkan tingkat kejujuran </a:t>
            </a:r>
            <a:r>
              <a:rPr lang="en-ID" sz="2800" dirty="0" err="1">
                <a:solidFill>
                  <a:schemeClr val="tx1"/>
                </a:solidFill>
              </a:rPr>
              <a:t>mahasiswa</a:t>
            </a:r>
            <a:r>
              <a:rPr lang="en-ID" sz="2800" dirty="0">
                <a:solidFill>
                  <a:schemeClr val="tx1"/>
                </a:solidFill>
              </a:rPr>
              <a:t>.</a:t>
            </a:r>
          </a:p>
          <a:p>
            <a:pPr lvl="0"/>
            <a:r>
              <a:rPr lang="id-ID" sz="2800" dirty="0">
                <a:solidFill>
                  <a:schemeClr val="tx1"/>
                </a:solidFill>
              </a:rPr>
              <a:t>Membangun dan meningkatkan tingkat kedisiplinan </a:t>
            </a:r>
            <a:r>
              <a:rPr lang="en-ID" sz="2800" dirty="0" err="1">
                <a:solidFill>
                  <a:schemeClr val="tx1"/>
                </a:solidFill>
              </a:rPr>
              <a:t>mahasiswa</a:t>
            </a:r>
            <a:r>
              <a:rPr lang="en-ID" sz="2800" dirty="0">
                <a:solidFill>
                  <a:schemeClr val="tx1"/>
                </a:solidFill>
              </a:rPr>
              <a:t>.</a:t>
            </a:r>
          </a:p>
          <a:p>
            <a:pPr lvl="0"/>
            <a:r>
              <a:rPr lang="id-ID" sz="2800" dirty="0">
                <a:solidFill>
                  <a:schemeClr val="tx1"/>
                </a:solidFill>
              </a:rPr>
              <a:t>Meningkatkan etos kerja</a:t>
            </a:r>
            <a:r>
              <a:rPr lang="ru-RU" sz="2800" dirty="0">
                <a:solidFill>
                  <a:schemeClr val="tx1"/>
                </a:solidFill>
              </a:rPr>
              <a:t>.</a:t>
            </a:r>
            <a:endParaRPr lang="en-ID" sz="2800" dirty="0">
              <a:solidFill>
                <a:schemeClr val="tx1"/>
              </a:solidFill>
            </a:endParaRPr>
          </a:p>
          <a:p>
            <a:pPr lvl="0"/>
            <a:r>
              <a:rPr lang="id-ID" sz="2800" dirty="0">
                <a:solidFill>
                  <a:schemeClr val="tx1"/>
                </a:solidFill>
              </a:rPr>
              <a:t>Mengintegrasikan elemen </a:t>
            </a:r>
            <a:r>
              <a:rPr lang="en-ID" sz="2800" dirty="0">
                <a:solidFill>
                  <a:schemeClr val="tx1"/>
                </a:solidFill>
              </a:rPr>
              <a:t>s</a:t>
            </a:r>
            <a:r>
              <a:rPr lang="id-ID" sz="2800" dirty="0">
                <a:solidFill>
                  <a:schemeClr val="tx1"/>
                </a:solidFill>
              </a:rPr>
              <a:t>istem </a:t>
            </a:r>
            <a:r>
              <a:rPr lang="en-ID" sz="2800" dirty="0" err="1">
                <a:solidFill>
                  <a:schemeClr val="tx1"/>
                </a:solidFill>
              </a:rPr>
              <a:t>i</a:t>
            </a:r>
            <a:r>
              <a:rPr lang="id-ID" sz="2800" dirty="0">
                <a:solidFill>
                  <a:schemeClr val="tx1"/>
                </a:solidFill>
              </a:rPr>
              <a:t>nformasi </a:t>
            </a:r>
            <a:r>
              <a:rPr lang="en-ID" sz="2800" dirty="0">
                <a:solidFill>
                  <a:schemeClr val="tx1"/>
                </a:solidFill>
              </a:rPr>
              <a:t>a</a:t>
            </a:r>
            <a:r>
              <a:rPr lang="id-ID" sz="2800" dirty="0">
                <a:solidFill>
                  <a:schemeClr val="tx1"/>
                </a:solidFill>
              </a:rPr>
              <a:t>bsensi dengan aplikasi berbasis </a:t>
            </a:r>
            <a:r>
              <a:rPr lang="en-ID" sz="2800" dirty="0">
                <a:solidFill>
                  <a:schemeClr val="tx1"/>
                </a:solidFill>
              </a:rPr>
              <a:t>web .</a:t>
            </a:r>
          </a:p>
          <a:p>
            <a:pPr lvl="0"/>
            <a:r>
              <a:rPr lang="id-ID" sz="2800" dirty="0">
                <a:solidFill>
                  <a:schemeClr val="tx1"/>
                </a:solidFill>
              </a:rPr>
              <a:t>Membangun sistem informasi yang mampu memberikan informasi yang akurat dan terpercaya.</a:t>
            </a:r>
            <a:endParaRPr lang="en-ID" sz="2800" dirty="0">
              <a:solidFill>
                <a:schemeClr val="tx1"/>
              </a:solidFill>
            </a:endParaRP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51448050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p14:dur="1250">
        <p15:prstTrans prst="prestig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xmlns="" id="{A0CBA743-E91B-434E-BF6F-E20D7108C1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BAB II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xmlns="" id="{98779DB3-8DC2-4D12-A47F-C1FB783450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/>
              <a:t>TINJAUAN PUSTAKA</a:t>
            </a:r>
          </a:p>
        </p:txBody>
      </p:sp>
    </p:spTree>
    <p:extLst>
      <p:ext uri="{BB962C8B-B14F-4D97-AF65-F5344CB8AC3E}">
        <p14:creationId xmlns:p14="http://schemas.microsoft.com/office/powerpoint/2010/main" val="3061797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vortex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0553B78E-44A3-4D4F-9D22-AD9F627F4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7808" y="3127512"/>
            <a:ext cx="4214192" cy="602975"/>
          </a:xfrm>
        </p:spPr>
        <p:txBody>
          <a:bodyPr>
            <a:normAutofit/>
          </a:bodyPr>
          <a:lstStyle/>
          <a:p>
            <a:r>
              <a:rPr lang="en-ID" sz="2800" dirty="0"/>
              <a:t>LANDASAN TEORI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D49C9905-DDB9-4366-B3B1-4AC796EB0C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764" y="457199"/>
            <a:ext cx="6483888" cy="6195392"/>
          </a:xfrm>
        </p:spPr>
        <p:txBody>
          <a:bodyPr>
            <a:normAutofit lnSpcReduction="10000"/>
          </a:bodyPr>
          <a:lstStyle/>
          <a:p>
            <a:r>
              <a:rPr lang="en-ID" sz="2400" b="1" dirty="0" err="1">
                <a:solidFill>
                  <a:schemeClr val="tx1"/>
                </a:solidFill>
              </a:rPr>
              <a:t>Informasi</a:t>
            </a:r>
            <a:r>
              <a:rPr lang="en-ID" sz="2400" b="1" dirty="0">
                <a:solidFill>
                  <a:schemeClr val="tx1"/>
                </a:solidFill>
              </a:rPr>
              <a:t>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D" sz="2400" dirty="0" err="1">
                <a:solidFill>
                  <a:schemeClr val="tx1"/>
                </a:solidFill>
              </a:rPr>
              <a:t>Informasi</a:t>
            </a:r>
            <a:r>
              <a:rPr lang="en-ID" sz="2400" dirty="0">
                <a:solidFill>
                  <a:schemeClr val="tx1"/>
                </a:solidFill>
              </a:rPr>
              <a:t> </a:t>
            </a:r>
            <a:r>
              <a:rPr lang="en-ID" sz="2400" dirty="0" err="1">
                <a:solidFill>
                  <a:schemeClr val="tx1"/>
                </a:solidFill>
              </a:rPr>
              <a:t>adalah</a:t>
            </a:r>
            <a:r>
              <a:rPr lang="en-ID" sz="2400" dirty="0">
                <a:solidFill>
                  <a:schemeClr val="tx1"/>
                </a:solidFill>
              </a:rPr>
              <a:t> </a:t>
            </a:r>
            <a:r>
              <a:rPr lang="en-ID" sz="2400" dirty="0" err="1">
                <a:solidFill>
                  <a:schemeClr val="tx1"/>
                </a:solidFill>
              </a:rPr>
              <a:t>sesuatu</a:t>
            </a:r>
            <a:r>
              <a:rPr lang="en-ID" sz="2400" dirty="0">
                <a:solidFill>
                  <a:schemeClr val="tx1"/>
                </a:solidFill>
              </a:rPr>
              <a:t> yang </a:t>
            </a:r>
            <a:r>
              <a:rPr lang="en-ID" sz="2400" dirty="0" err="1">
                <a:solidFill>
                  <a:schemeClr val="tx1"/>
                </a:solidFill>
              </a:rPr>
              <a:t>nyata</a:t>
            </a:r>
            <a:r>
              <a:rPr lang="en-ID" sz="2400" dirty="0">
                <a:solidFill>
                  <a:schemeClr val="tx1"/>
                </a:solidFill>
              </a:rPr>
              <a:t> </a:t>
            </a:r>
            <a:r>
              <a:rPr lang="en-ID" sz="2400" dirty="0" err="1">
                <a:solidFill>
                  <a:schemeClr val="tx1"/>
                </a:solidFill>
              </a:rPr>
              <a:t>atau</a:t>
            </a:r>
            <a:r>
              <a:rPr lang="en-ID" sz="2400" dirty="0">
                <a:solidFill>
                  <a:schemeClr val="tx1"/>
                </a:solidFill>
              </a:rPr>
              <a:t> </a:t>
            </a:r>
            <a:r>
              <a:rPr lang="en-ID" sz="2400" dirty="0" err="1">
                <a:solidFill>
                  <a:schemeClr val="tx1"/>
                </a:solidFill>
              </a:rPr>
              <a:t>setengah</a:t>
            </a:r>
            <a:r>
              <a:rPr lang="en-ID" sz="2400" dirty="0">
                <a:solidFill>
                  <a:schemeClr val="tx1"/>
                </a:solidFill>
              </a:rPr>
              <a:t> </a:t>
            </a:r>
            <a:r>
              <a:rPr lang="en-ID" sz="2400" dirty="0" err="1">
                <a:solidFill>
                  <a:schemeClr val="tx1"/>
                </a:solidFill>
              </a:rPr>
              <a:t>nyata</a:t>
            </a:r>
            <a:r>
              <a:rPr lang="en-ID" sz="2400" dirty="0">
                <a:solidFill>
                  <a:schemeClr val="tx1"/>
                </a:solidFill>
              </a:rPr>
              <a:t> yang </a:t>
            </a:r>
            <a:r>
              <a:rPr lang="en-ID" sz="2400" dirty="0" err="1">
                <a:solidFill>
                  <a:schemeClr val="tx1"/>
                </a:solidFill>
              </a:rPr>
              <a:t>dapat</a:t>
            </a:r>
            <a:r>
              <a:rPr lang="en-ID" sz="2400" dirty="0">
                <a:solidFill>
                  <a:schemeClr val="tx1"/>
                </a:solidFill>
              </a:rPr>
              <a:t> </a:t>
            </a:r>
            <a:r>
              <a:rPr lang="en-ID" sz="2400" dirty="0" err="1">
                <a:solidFill>
                  <a:schemeClr val="tx1"/>
                </a:solidFill>
              </a:rPr>
              <a:t>mengurangi</a:t>
            </a:r>
            <a:r>
              <a:rPr lang="en-ID" sz="2400" dirty="0">
                <a:solidFill>
                  <a:schemeClr val="tx1"/>
                </a:solidFill>
              </a:rPr>
              <a:t> </a:t>
            </a:r>
            <a:r>
              <a:rPr lang="en-ID" sz="2400" dirty="0" err="1">
                <a:solidFill>
                  <a:schemeClr val="tx1"/>
                </a:solidFill>
              </a:rPr>
              <a:t>derajat</a:t>
            </a:r>
            <a:r>
              <a:rPr lang="en-ID" sz="2400" dirty="0">
                <a:solidFill>
                  <a:schemeClr val="tx1"/>
                </a:solidFill>
              </a:rPr>
              <a:t> </a:t>
            </a:r>
            <a:r>
              <a:rPr lang="en-ID" sz="2400" dirty="0" err="1">
                <a:solidFill>
                  <a:schemeClr val="tx1"/>
                </a:solidFill>
              </a:rPr>
              <a:t>ketidakpastian</a:t>
            </a:r>
            <a:r>
              <a:rPr lang="en-ID" sz="2400" dirty="0">
                <a:solidFill>
                  <a:schemeClr val="tx1"/>
                </a:solidFill>
              </a:rPr>
              <a:t> </a:t>
            </a:r>
            <a:r>
              <a:rPr lang="en-ID" sz="2400" dirty="0" err="1">
                <a:solidFill>
                  <a:schemeClr val="tx1"/>
                </a:solidFill>
              </a:rPr>
              <a:t>tentang</a:t>
            </a:r>
            <a:r>
              <a:rPr lang="en-ID" sz="2400" dirty="0">
                <a:solidFill>
                  <a:schemeClr val="tx1"/>
                </a:solidFill>
              </a:rPr>
              <a:t> </a:t>
            </a:r>
            <a:r>
              <a:rPr lang="en-ID" sz="2400" dirty="0" err="1">
                <a:solidFill>
                  <a:schemeClr val="tx1"/>
                </a:solidFill>
              </a:rPr>
              <a:t>suatu</a:t>
            </a:r>
            <a:r>
              <a:rPr lang="en-ID" sz="2400" dirty="0">
                <a:solidFill>
                  <a:schemeClr val="tx1"/>
                </a:solidFill>
              </a:rPr>
              <a:t> </a:t>
            </a:r>
            <a:r>
              <a:rPr lang="en-ID" sz="2400" dirty="0" err="1">
                <a:solidFill>
                  <a:schemeClr val="tx1"/>
                </a:solidFill>
              </a:rPr>
              <a:t>keadaan</a:t>
            </a:r>
            <a:r>
              <a:rPr lang="en-ID" sz="2400" dirty="0">
                <a:solidFill>
                  <a:schemeClr val="tx1"/>
                </a:solidFill>
              </a:rPr>
              <a:t> </a:t>
            </a:r>
            <a:r>
              <a:rPr lang="en-ID" sz="2400" dirty="0" err="1">
                <a:solidFill>
                  <a:schemeClr val="tx1"/>
                </a:solidFill>
              </a:rPr>
              <a:t>atau</a:t>
            </a:r>
            <a:r>
              <a:rPr lang="en-ID" sz="2400" dirty="0">
                <a:solidFill>
                  <a:schemeClr val="tx1"/>
                </a:solidFill>
              </a:rPr>
              <a:t> </a:t>
            </a:r>
            <a:r>
              <a:rPr lang="en-ID" sz="2400" dirty="0" err="1">
                <a:solidFill>
                  <a:schemeClr val="tx1"/>
                </a:solidFill>
              </a:rPr>
              <a:t>kejadian</a:t>
            </a:r>
            <a:r>
              <a:rPr lang="en-ID" sz="2400" dirty="0">
                <a:solidFill>
                  <a:schemeClr val="tx1"/>
                </a:solidFill>
              </a:rPr>
              <a:t>.</a:t>
            </a:r>
          </a:p>
          <a:p>
            <a:r>
              <a:rPr lang="en-ID" sz="2400" b="1" dirty="0" err="1">
                <a:solidFill>
                  <a:schemeClr val="tx1"/>
                </a:solidFill>
              </a:rPr>
              <a:t>Sistem</a:t>
            </a:r>
            <a:endParaRPr lang="en-ID" sz="2400" b="1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D" sz="2400" dirty="0" err="1">
                <a:solidFill>
                  <a:schemeClr val="tx1"/>
                </a:solidFill>
              </a:rPr>
              <a:t>Sistem</a:t>
            </a:r>
            <a:r>
              <a:rPr lang="en-ID" sz="2400" dirty="0">
                <a:solidFill>
                  <a:schemeClr val="tx1"/>
                </a:solidFill>
              </a:rPr>
              <a:t> </a:t>
            </a:r>
            <a:r>
              <a:rPr lang="en-ID" sz="2400" dirty="0" err="1">
                <a:solidFill>
                  <a:schemeClr val="tx1"/>
                </a:solidFill>
              </a:rPr>
              <a:t>merupakan</a:t>
            </a:r>
            <a:r>
              <a:rPr lang="en-ID" sz="2400" dirty="0">
                <a:solidFill>
                  <a:schemeClr val="tx1"/>
                </a:solidFill>
              </a:rPr>
              <a:t> </a:t>
            </a:r>
            <a:r>
              <a:rPr lang="en-ID" sz="2400" dirty="0" err="1">
                <a:solidFill>
                  <a:schemeClr val="tx1"/>
                </a:solidFill>
              </a:rPr>
              <a:t>suatu</a:t>
            </a:r>
            <a:r>
              <a:rPr lang="en-ID" sz="2400" dirty="0">
                <a:solidFill>
                  <a:schemeClr val="tx1"/>
                </a:solidFill>
              </a:rPr>
              <a:t> </a:t>
            </a:r>
            <a:r>
              <a:rPr lang="en-ID" sz="2400" dirty="0" err="1">
                <a:solidFill>
                  <a:schemeClr val="tx1"/>
                </a:solidFill>
              </a:rPr>
              <a:t>grup</a:t>
            </a:r>
            <a:r>
              <a:rPr lang="en-ID" sz="2400" dirty="0">
                <a:solidFill>
                  <a:schemeClr val="tx1"/>
                </a:solidFill>
              </a:rPr>
              <a:t> </a:t>
            </a:r>
            <a:r>
              <a:rPr lang="en-ID" sz="2400" dirty="0" err="1">
                <a:solidFill>
                  <a:schemeClr val="tx1"/>
                </a:solidFill>
              </a:rPr>
              <a:t>dari</a:t>
            </a:r>
            <a:r>
              <a:rPr lang="en-ID" sz="2400" dirty="0">
                <a:solidFill>
                  <a:schemeClr val="tx1"/>
                </a:solidFill>
              </a:rPr>
              <a:t> </a:t>
            </a:r>
            <a:r>
              <a:rPr lang="en-ID" sz="2400" dirty="0" err="1">
                <a:solidFill>
                  <a:schemeClr val="tx1"/>
                </a:solidFill>
              </a:rPr>
              <a:t>elemen-elemen</a:t>
            </a:r>
            <a:r>
              <a:rPr lang="en-ID" sz="2400" dirty="0">
                <a:solidFill>
                  <a:schemeClr val="tx1"/>
                </a:solidFill>
              </a:rPr>
              <a:t> </a:t>
            </a:r>
            <a:r>
              <a:rPr lang="en-ID" sz="2400" dirty="0" err="1">
                <a:solidFill>
                  <a:schemeClr val="tx1"/>
                </a:solidFill>
              </a:rPr>
              <a:t>baik</a:t>
            </a:r>
            <a:r>
              <a:rPr lang="en-ID" sz="2400" dirty="0">
                <a:solidFill>
                  <a:schemeClr val="tx1"/>
                </a:solidFill>
              </a:rPr>
              <a:t> yang </a:t>
            </a:r>
            <a:r>
              <a:rPr lang="en-ID" sz="2400" dirty="0" err="1">
                <a:solidFill>
                  <a:schemeClr val="tx1"/>
                </a:solidFill>
              </a:rPr>
              <a:t>berbentuk</a:t>
            </a:r>
            <a:r>
              <a:rPr lang="en-ID" sz="2400" dirty="0">
                <a:solidFill>
                  <a:schemeClr val="tx1"/>
                </a:solidFill>
              </a:rPr>
              <a:t> </a:t>
            </a:r>
            <a:r>
              <a:rPr lang="en-ID" sz="2400" dirty="0" err="1">
                <a:solidFill>
                  <a:schemeClr val="tx1"/>
                </a:solidFill>
              </a:rPr>
              <a:t>fisik</a:t>
            </a:r>
            <a:r>
              <a:rPr lang="en-ID" sz="2400" dirty="0">
                <a:solidFill>
                  <a:schemeClr val="tx1"/>
                </a:solidFill>
              </a:rPr>
              <a:t> </a:t>
            </a:r>
            <a:r>
              <a:rPr lang="en-ID" sz="2400" dirty="0" err="1">
                <a:solidFill>
                  <a:schemeClr val="tx1"/>
                </a:solidFill>
              </a:rPr>
              <a:t>maupun</a:t>
            </a:r>
            <a:r>
              <a:rPr lang="en-ID" sz="2400" dirty="0">
                <a:solidFill>
                  <a:schemeClr val="tx1"/>
                </a:solidFill>
              </a:rPr>
              <a:t> non-</a:t>
            </a:r>
            <a:r>
              <a:rPr lang="en-ID" sz="2400" dirty="0" err="1">
                <a:solidFill>
                  <a:schemeClr val="tx1"/>
                </a:solidFill>
              </a:rPr>
              <a:t>fisik</a:t>
            </a:r>
            <a:r>
              <a:rPr lang="en-ID" sz="2400" dirty="0">
                <a:solidFill>
                  <a:schemeClr val="tx1"/>
                </a:solidFill>
              </a:rPr>
              <a:t> yang </a:t>
            </a:r>
            <a:r>
              <a:rPr lang="en-ID" sz="2400" dirty="0" err="1">
                <a:solidFill>
                  <a:schemeClr val="tx1"/>
                </a:solidFill>
              </a:rPr>
              <a:t>menunjukkan</a:t>
            </a:r>
            <a:r>
              <a:rPr lang="en-ID" sz="2400" dirty="0">
                <a:solidFill>
                  <a:schemeClr val="tx1"/>
                </a:solidFill>
              </a:rPr>
              <a:t> </a:t>
            </a:r>
            <a:r>
              <a:rPr lang="en-ID" sz="2400" dirty="0" err="1">
                <a:solidFill>
                  <a:schemeClr val="tx1"/>
                </a:solidFill>
              </a:rPr>
              <a:t>suatu</a:t>
            </a:r>
            <a:r>
              <a:rPr lang="en-ID" sz="2400" dirty="0">
                <a:solidFill>
                  <a:schemeClr val="tx1"/>
                </a:solidFill>
              </a:rPr>
              <a:t> </a:t>
            </a:r>
            <a:r>
              <a:rPr lang="en-ID" sz="2400" dirty="0" err="1">
                <a:solidFill>
                  <a:schemeClr val="tx1"/>
                </a:solidFill>
              </a:rPr>
              <a:t>kumpulan</a:t>
            </a:r>
            <a:r>
              <a:rPr lang="en-ID" sz="2400" dirty="0">
                <a:solidFill>
                  <a:schemeClr val="tx1"/>
                </a:solidFill>
              </a:rPr>
              <a:t> </a:t>
            </a:r>
            <a:r>
              <a:rPr lang="en-ID" sz="2400" dirty="0" err="1">
                <a:solidFill>
                  <a:schemeClr val="tx1"/>
                </a:solidFill>
              </a:rPr>
              <a:t>saling</a:t>
            </a:r>
            <a:r>
              <a:rPr lang="en-ID" sz="2400" dirty="0">
                <a:solidFill>
                  <a:schemeClr val="tx1"/>
                </a:solidFill>
              </a:rPr>
              <a:t> </a:t>
            </a:r>
            <a:r>
              <a:rPr lang="en-ID" sz="2400" dirty="0" err="1">
                <a:solidFill>
                  <a:schemeClr val="tx1"/>
                </a:solidFill>
              </a:rPr>
              <a:t>berhubungan</a:t>
            </a:r>
            <a:r>
              <a:rPr lang="en-ID" sz="2400" dirty="0">
                <a:solidFill>
                  <a:schemeClr val="tx1"/>
                </a:solidFill>
              </a:rPr>
              <a:t> </a:t>
            </a:r>
          </a:p>
          <a:p>
            <a:r>
              <a:rPr lang="en-ID" sz="2400" b="1" dirty="0" err="1">
                <a:solidFill>
                  <a:schemeClr val="tx1"/>
                </a:solidFill>
              </a:rPr>
              <a:t>Sistem</a:t>
            </a:r>
            <a:r>
              <a:rPr lang="en-ID" sz="2400" b="1" dirty="0">
                <a:solidFill>
                  <a:schemeClr val="tx1"/>
                </a:solidFill>
              </a:rPr>
              <a:t> </a:t>
            </a:r>
            <a:r>
              <a:rPr lang="en-ID" sz="2400" b="1" dirty="0" err="1">
                <a:solidFill>
                  <a:schemeClr val="tx1"/>
                </a:solidFill>
              </a:rPr>
              <a:t>Informasi</a:t>
            </a:r>
            <a:endParaRPr lang="en-ID" sz="2400" b="1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D" sz="2400" dirty="0" err="1">
                <a:solidFill>
                  <a:schemeClr val="tx1"/>
                </a:solidFill>
              </a:rPr>
              <a:t>Sistem</a:t>
            </a:r>
            <a:r>
              <a:rPr lang="en-ID" sz="2400" dirty="0">
                <a:solidFill>
                  <a:schemeClr val="tx1"/>
                </a:solidFill>
              </a:rPr>
              <a:t> </a:t>
            </a:r>
            <a:r>
              <a:rPr lang="en-ID" sz="2400" dirty="0" err="1">
                <a:solidFill>
                  <a:schemeClr val="tx1"/>
                </a:solidFill>
              </a:rPr>
              <a:t>Informasi</a:t>
            </a:r>
            <a:r>
              <a:rPr lang="en-ID" sz="2400" dirty="0">
                <a:solidFill>
                  <a:schemeClr val="tx1"/>
                </a:solidFill>
              </a:rPr>
              <a:t> (SI) </a:t>
            </a:r>
            <a:r>
              <a:rPr lang="en-ID" sz="2400" dirty="0" err="1">
                <a:solidFill>
                  <a:schemeClr val="tx1"/>
                </a:solidFill>
              </a:rPr>
              <a:t>adalah</a:t>
            </a:r>
            <a:r>
              <a:rPr lang="en-ID" sz="2400" dirty="0">
                <a:solidFill>
                  <a:schemeClr val="tx1"/>
                </a:solidFill>
              </a:rPr>
              <a:t> </a:t>
            </a:r>
            <a:r>
              <a:rPr lang="en-ID" sz="2400" dirty="0" err="1">
                <a:solidFill>
                  <a:schemeClr val="tx1"/>
                </a:solidFill>
              </a:rPr>
              <a:t>kombinasi</a:t>
            </a:r>
            <a:r>
              <a:rPr lang="en-ID" sz="2400" dirty="0">
                <a:solidFill>
                  <a:schemeClr val="tx1"/>
                </a:solidFill>
              </a:rPr>
              <a:t> </a:t>
            </a:r>
            <a:r>
              <a:rPr lang="en-ID" sz="2400" dirty="0" err="1">
                <a:solidFill>
                  <a:schemeClr val="tx1"/>
                </a:solidFill>
              </a:rPr>
              <a:t>dari</a:t>
            </a:r>
            <a:r>
              <a:rPr lang="en-ID" sz="2400" dirty="0">
                <a:solidFill>
                  <a:schemeClr val="tx1"/>
                </a:solidFill>
              </a:rPr>
              <a:t> </a:t>
            </a:r>
            <a:r>
              <a:rPr lang="en-ID" sz="2400" dirty="0" err="1">
                <a:solidFill>
                  <a:schemeClr val="tx1"/>
                </a:solidFill>
              </a:rPr>
              <a:t>teknologi</a:t>
            </a:r>
            <a:r>
              <a:rPr lang="en-ID" sz="2400" dirty="0">
                <a:solidFill>
                  <a:schemeClr val="tx1"/>
                </a:solidFill>
              </a:rPr>
              <a:t> </a:t>
            </a:r>
            <a:r>
              <a:rPr lang="en-ID" sz="2400" dirty="0" err="1">
                <a:solidFill>
                  <a:schemeClr val="tx1"/>
                </a:solidFill>
              </a:rPr>
              <a:t>informasi</a:t>
            </a:r>
            <a:r>
              <a:rPr lang="en-ID" sz="2400" dirty="0">
                <a:solidFill>
                  <a:schemeClr val="tx1"/>
                </a:solidFill>
              </a:rPr>
              <a:t> dan </a:t>
            </a:r>
            <a:r>
              <a:rPr lang="en-ID" sz="2400" dirty="0" err="1">
                <a:solidFill>
                  <a:schemeClr val="tx1"/>
                </a:solidFill>
              </a:rPr>
              <a:t>aktivitas</a:t>
            </a:r>
            <a:r>
              <a:rPr lang="en-ID" sz="2400" dirty="0">
                <a:solidFill>
                  <a:schemeClr val="tx1"/>
                </a:solidFill>
              </a:rPr>
              <a:t> orang yang </a:t>
            </a:r>
            <a:r>
              <a:rPr lang="en-ID" sz="2400" dirty="0" err="1">
                <a:solidFill>
                  <a:schemeClr val="tx1"/>
                </a:solidFill>
              </a:rPr>
              <a:t>menggunakan</a:t>
            </a:r>
            <a:r>
              <a:rPr lang="en-ID" sz="2400" dirty="0">
                <a:solidFill>
                  <a:schemeClr val="tx1"/>
                </a:solidFill>
              </a:rPr>
              <a:t> </a:t>
            </a:r>
            <a:r>
              <a:rPr lang="en-ID" sz="2400" dirty="0" err="1">
                <a:solidFill>
                  <a:schemeClr val="tx1"/>
                </a:solidFill>
              </a:rPr>
              <a:t>teknologi</a:t>
            </a:r>
            <a:r>
              <a:rPr lang="en-ID" sz="2400" dirty="0">
                <a:solidFill>
                  <a:schemeClr val="tx1"/>
                </a:solidFill>
              </a:rPr>
              <a:t> </a:t>
            </a:r>
            <a:r>
              <a:rPr lang="en-ID" sz="2400" dirty="0" err="1">
                <a:solidFill>
                  <a:schemeClr val="tx1"/>
                </a:solidFill>
              </a:rPr>
              <a:t>itu</a:t>
            </a:r>
            <a:r>
              <a:rPr lang="en-ID" sz="2400" dirty="0">
                <a:solidFill>
                  <a:schemeClr val="tx1"/>
                </a:solidFill>
              </a:rPr>
              <a:t> </a:t>
            </a:r>
            <a:r>
              <a:rPr lang="en-ID" sz="2400" dirty="0" err="1">
                <a:solidFill>
                  <a:schemeClr val="tx1"/>
                </a:solidFill>
              </a:rPr>
              <a:t>untuk</a:t>
            </a:r>
            <a:r>
              <a:rPr lang="en-ID" sz="2400" dirty="0">
                <a:solidFill>
                  <a:schemeClr val="tx1"/>
                </a:solidFill>
              </a:rPr>
              <a:t> </a:t>
            </a:r>
            <a:r>
              <a:rPr lang="en-ID" sz="2400" dirty="0" err="1">
                <a:solidFill>
                  <a:schemeClr val="tx1"/>
                </a:solidFill>
              </a:rPr>
              <a:t>mendukung</a:t>
            </a:r>
            <a:r>
              <a:rPr lang="en-ID" sz="2400" dirty="0">
                <a:solidFill>
                  <a:schemeClr val="tx1"/>
                </a:solidFill>
              </a:rPr>
              <a:t> </a:t>
            </a:r>
            <a:r>
              <a:rPr lang="en-ID" sz="2400" dirty="0" err="1">
                <a:solidFill>
                  <a:schemeClr val="tx1"/>
                </a:solidFill>
              </a:rPr>
              <a:t>operasi</a:t>
            </a:r>
            <a:r>
              <a:rPr lang="en-ID" sz="2400" dirty="0">
                <a:solidFill>
                  <a:schemeClr val="tx1"/>
                </a:solidFill>
              </a:rPr>
              <a:t> dan </a:t>
            </a:r>
            <a:r>
              <a:rPr lang="en-ID" sz="2400" dirty="0" err="1">
                <a:solidFill>
                  <a:schemeClr val="tx1"/>
                </a:solidFill>
              </a:rPr>
              <a:t>manajemen</a:t>
            </a:r>
            <a:r>
              <a:rPr lang="en-ID" sz="2400" dirty="0">
                <a:solidFill>
                  <a:schemeClr val="tx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14949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gallery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F2E71E6-7B7A-42E6-8C6B-C804E32B04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D" sz="3400" b="1" dirty="0" err="1">
                <a:solidFill>
                  <a:schemeClr val="tx1"/>
                </a:solidFill>
              </a:rPr>
              <a:t>Sistem</a:t>
            </a:r>
            <a:r>
              <a:rPr lang="en-ID" sz="3400" b="1" dirty="0">
                <a:solidFill>
                  <a:schemeClr val="tx1"/>
                </a:solidFill>
              </a:rPr>
              <a:t> </a:t>
            </a:r>
            <a:r>
              <a:rPr lang="en-ID" sz="3400" b="1" dirty="0" err="1">
                <a:solidFill>
                  <a:schemeClr val="tx1"/>
                </a:solidFill>
              </a:rPr>
              <a:t>Informasi</a:t>
            </a:r>
            <a:r>
              <a:rPr lang="en-ID" sz="3400" b="1" dirty="0">
                <a:solidFill>
                  <a:schemeClr val="tx1"/>
                </a:solidFill>
              </a:rPr>
              <a:t> </a:t>
            </a:r>
            <a:r>
              <a:rPr lang="en-ID" sz="3400" b="1" dirty="0" err="1">
                <a:solidFill>
                  <a:schemeClr val="tx1"/>
                </a:solidFill>
              </a:rPr>
              <a:t>Akademik</a:t>
            </a:r>
            <a:endParaRPr lang="en-ID" sz="3400" b="1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D" sz="3400" dirty="0" err="1">
                <a:solidFill>
                  <a:schemeClr val="tx1"/>
                </a:solidFill>
              </a:rPr>
              <a:t>Sistem</a:t>
            </a:r>
            <a:r>
              <a:rPr lang="en-ID" sz="3400" dirty="0">
                <a:solidFill>
                  <a:schemeClr val="tx1"/>
                </a:solidFill>
              </a:rPr>
              <a:t> </a:t>
            </a:r>
            <a:r>
              <a:rPr lang="en-ID" sz="3400" dirty="0" err="1">
                <a:solidFill>
                  <a:schemeClr val="tx1"/>
                </a:solidFill>
              </a:rPr>
              <a:t>Informasi</a:t>
            </a:r>
            <a:r>
              <a:rPr lang="en-ID" sz="3400" dirty="0">
                <a:solidFill>
                  <a:schemeClr val="tx1"/>
                </a:solidFill>
              </a:rPr>
              <a:t> </a:t>
            </a:r>
            <a:r>
              <a:rPr lang="en-ID" sz="3400" dirty="0" err="1">
                <a:solidFill>
                  <a:schemeClr val="tx1"/>
                </a:solidFill>
              </a:rPr>
              <a:t>Akademik</a:t>
            </a:r>
            <a:r>
              <a:rPr lang="en-ID" sz="3400" dirty="0">
                <a:solidFill>
                  <a:schemeClr val="tx1"/>
                </a:solidFill>
              </a:rPr>
              <a:t> </a:t>
            </a:r>
            <a:r>
              <a:rPr lang="en-ID" sz="3400" dirty="0" err="1">
                <a:solidFill>
                  <a:schemeClr val="tx1"/>
                </a:solidFill>
              </a:rPr>
              <a:t>merupakan</a:t>
            </a:r>
            <a:r>
              <a:rPr lang="en-ID" sz="3400" dirty="0">
                <a:solidFill>
                  <a:schemeClr val="tx1"/>
                </a:solidFill>
              </a:rPr>
              <a:t> </a:t>
            </a:r>
            <a:r>
              <a:rPr lang="en-ID" sz="3400" dirty="0" err="1">
                <a:solidFill>
                  <a:schemeClr val="tx1"/>
                </a:solidFill>
              </a:rPr>
              <a:t>sistem</a:t>
            </a:r>
            <a:r>
              <a:rPr lang="en-ID" sz="3400" dirty="0">
                <a:solidFill>
                  <a:schemeClr val="tx1"/>
                </a:solidFill>
              </a:rPr>
              <a:t> yang </a:t>
            </a:r>
            <a:r>
              <a:rPr lang="en-ID" sz="3400" dirty="0" err="1">
                <a:solidFill>
                  <a:schemeClr val="tx1"/>
                </a:solidFill>
              </a:rPr>
              <a:t>mengolah</a:t>
            </a:r>
            <a:r>
              <a:rPr lang="en-ID" sz="3400" dirty="0">
                <a:solidFill>
                  <a:schemeClr val="tx1"/>
                </a:solidFill>
              </a:rPr>
              <a:t> data dan </a:t>
            </a:r>
            <a:r>
              <a:rPr lang="en-ID" sz="3400" dirty="0" err="1">
                <a:solidFill>
                  <a:schemeClr val="tx1"/>
                </a:solidFill>
              </a:rPr>
              <a:t>melakukan</a:t>
            </a:r>
            <a:r>
              <a:rPr lang="en-ID" sz="3400" dirty="0">
                <a:solidFill>
                  <a:schemeClr val="tx1"/>
                </a:solidFill>
              </a:rPr>
              <a:t> proses </a:t>
            </a:r>
            <a:r>
              <a:rPr lang="en-ID" sz="3400" dirty="0" err="1">
                <a:solidFill>
                  <a:schemeClr val="tx1"/>
                </a:solidFill>
              </a:rPr>
              <a:t>kegiatan</a:t>
            </a:r>
            <a:r>
              <a:rPr lang="en-ID" sz="3400" dirty="0">
                <a:solidFill>
                  <a:schemeClr val="tx1"/>
                </a:solidFill>
              </a:rPr>
              <a:t> </a:t>
            </a:r>
            <a:r>
              <a:rPr lang="en-ID" sz="3400" dirty="0" err="1">
                <a:solidFill>
                  <a:schemeClr val="tx1"/>
                </a:solidFill>
              </a:rPr>
              <a:t>akademi</a:t>
            </a:r>
            <a:r>
              <a:rPr lang="en-ID" sz="3400" dirty="0">
                <a:solidFill>
                  <a:schemeClr val="tx1"/>
                </a:solidFill>
              </a:rPr>
              <a:t> yang </a:t>
            </a:r>
            <a:r>
              <a:rPr lang="en-ID" sz="3400" dirty="0" err="1">
                <a:solidFill>
                  <a:schemeClr val="tx1"/>
                </a:solidFill>
              </a:rPr>
              <a:t>melibatkan</a:t>
            </a:r>
            <a:r>
              <a:rPr lang="en-ID" sz="3400" dirty="0">
                <a:solidFill>
                  <a:schemeClr val="tx1"/>
                </a:solidFill>
              </a:rPr>
              <a:t> </a:t>
            </a:r>
            <a:r>
              <a:rPr lang="en-ID" sz="3400" dirty="0" err="1">
                <a:solidFill>
                  <a:schemeClr val="tx1"/>
                </a:solidFill>
              </a:rPr>
              <a:t>antara</a:t>
            </a:r>
            <a:r>
              <a:rPr lang="en-ID" sz="3400" dirty="0">
                <a:solidFill>
                  <a:schemeClr val="tx1"/>
                </a:solidFill>
              </a:rPr>
              <a:t> </a:t>
            </a:r>
            <a:r>
              <a:rPr lang="en-ID" sz="3400" dirty="0" err="1">
                <a:solidFill>
                  <a:schemeClr val="tx1"/>
                </a:solidFill>
              </a:rPr>
              <a:t>mahasiswa</a:t>
            </a:r>
            <a:r>
              <a:rPr lang="en-ID" sz="3400" dirty="0">
                <a:solidFill>
                  <a:schemeClr val="tx1"/>
                </a:solidFill>
              </a:rPr>
              <a:t>, </a:t>
            </a:r>
            <a:r>
              <a:rPr lang="en-ID" sz="3400" dirty="0" err="1">
                <a:solidFill>
                  <a:schemeClr val="tx1"/>
                </a:solidFill>
              </a:rPr>
              <a:t>dosen</a:t>
            </a:r>
            <a:r>
              <a:rPr lang="en-ID" sz="3400" dirty="0">
                <a:solidFill>
                  <a:schemeClr val="tx1"/>
                </a:solidFill>
              </a:rPr>
              <a:t>, </a:t>
            </a:r>
            <a:r>
              <a:rPr lang="en-ID" sz="3400" dirty="0" err="1">
                <a:solidFill>
                  <a:schemeClr val="tx1"/>
                </a:solidFill>
              </a:rPr>
              <a:t>administrasi</a:t>
            </a:r>
            <a:r>
              <a:rPr lang="en-ID" sz="3400" dirty="0">
                <a:solidFill>
                  <a:schemeClr val="tx1"/>
                </a:solidFill>
              </a:rPr>
              <a:t> </a:t>
            </a:r>
            <a:r>
              <a:rPr lang="en-ID" sz="3400" dirty="0" err="1">
                <a:solidFill>
                  <a:schemeClr val="tx1"/>
                </a:solidFill>
              </a:rPr>
              <a:t>akademik</a:t>
            </a:r>
            <a:r>
              <a:rPr lang="en-ID" sz="3400" dirty="0">
                <a:solidFill>
                  <a:schemeClr val="tx1"/>
                </a:solidFill>
              </a:rPr>
              <a:t>, </a:t>
            </a:r>
            <a:r>
              <a:rPr lang="en-ID" sz="3400" dirty="0" err="1">
                <a:solidFill>
                  <a:schemeClr val="tx1"/>
                </a:solidFill>
              </a:rPr>
              <a:t>keuangan</a:t>
            </a:r>
            <a:r>
              <a:rPr lang="en-ID" sz="3400" dirty="0">
                <a:solidFill>
                  <a:schemeClr val="tx1"/>
                </a:solidFill>
              </a:rPr>
              <a:t> dan data </a:t>
            </a:r>
            <a:r>
              <a:rPr lang="en-ID" sz="3400" dirty="0" err="1">
                <a:solidFill>
                  <a:schemeClr val="tx1"/>
                </a:solidFill>
              </a:rPr>
              <a:t>atribut</a:t>
            </a:r>
            <a:r>
              <a:rPr lang="en-ID" sz="3400" dirty="0">
                <a:solidFill>
                  <a:schemeClr val="tx1"/>
                </a:solidFill>
              </a:rPr>
              <a:t> </a:t>
            </a:r>
            <a:r>
              <a:rPr lang="en-ID" sz="3400" dirty="0" err="1">
                <a:solidFill>
                  <a:schemeClr val="tx1"/>
                </a:solidFill>
              </a:rPr>
              <a:t>lainnya</a:t>
            </a:r>
            <a:r>
              <a:rPr lang="en-ID" sz="3400" dirty="0">
                <a:solidFill>
                  <a:schemeClr val="tx1"/>
                </a:solidFill>
              </a:rPr>
              <a:t>. </a:t>
            </a:r>
            <a:r>
              <a:rPr lang="en-ID" sz="3400" b="1" dirty="0">
                <a:solidFill>
                  <a:schemeClr val="tx1"/>
                </a:solidFill>
              </a:rPr>
              <a:t> </a:t>
            </a:r>
            <a:endParaRPr lang="en-ID" sz="3400" dirty="0">
              <a:solidFill>
                <a:schemeClr val="tx1"/>
              </a:solidFill>
            </a:endParaRPr>
          </a:p>
          <a:p>
            <a:r>
              <a:rPr lang="en-ID" sz="3400" b="1" dirty="0" err="1">
                <a:solidFill>
                  <a:schemeClr val="tx1"/>
                </a:solidFill>
              </a:rPr>
              <a:t>Proyek</a:t>
            </a:r>
            <a:endParaRPr lang="en-ID" sz="3400" b="1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D" sz="3400" dirty="0" err="1">
                <a:solidFill>
                  <a:schemeClr val="tx1"/>
                </a:solidFill>
              </a:rPr>
              <a:t>Proyek</a:t>
            </a:r>
            <a:r>
              <a:rPr lang="en-ID" sz="3400" dirty="0">
                <a:solidFill>
                  <a:schemeClr val="tx1"/>
                </a:solidFill>
              </a:rPr>
              <a:t> </a:t>
            </a:r>
            <a:r>
              <a:rPr lang="en-ID" sz="3400" dirty="0" err="1">
                <a:solidFill>
                  <a:schemeClr val="tx1"/>
                </a:solidFill>
              </a:rPr>
              <a:t>merupakan</a:t>
            </a:r>
            <a:r>
              <a:rPr lang="en-ID" sz="3400" dirty="0">
                <a:solidFill>
                  <a:schemeClr val="tx1"/>
                </a:solidFill>
              </a:rPr>
              <a:t> </a:t>
            </a:r>
            <a:r>
              <a:rPr lang="en-ID" sz="3400" dirty="0" err="1">
                <a:solidFill>
                  <a:schemeClr val="tx1"/>
                </a:solidFill>
              </a:rPr>
              <a:t>rangkaian</a:t>
            </a:r>
            <a:r>
              <a:rPr lang="en-ID" sz="3400" dirty="0">
                <a:solidFill>
                  <a:schemeClr val="tx1"/>
                </a:solidFill>
              </a:rPr>
              <a:t> </a:t>
            </a:r>
            <a:r>
              <a:rPr lang="en-ID" sz="3400" dirty="0" err="1">
                <a:solidFill>
                  <a:schemeClr val="tx1"/>
                </a:solidFill>
              </a:rPr>
              <a:t>aktivitas</a:t>
            </a:r>
            <a:r>
              <a:rPr lang="en-ID" sz="3400" dirty="0">
                <a:solidFill>
                  <a:schemeClr val="tx1"/>
                </a:solidFill>
              </a:rPr>
              <a:t> yang </a:t>
            </a:r>
            <a:r>
              <a:rPr lang="en-ID" sz="3400" dirty="0" err="1">
                <a:solidFill>
                  <a:schemeClr val="tx1"/>
                </a:solidFill>
              </a:rPr>
              <a:t>dapat</a:t>
            </a:r>
            <a:r>
              <a:rPr lang="en-ID" sz="3400" dirty="0">
                <a:solidFill>
                  <a:schemeClr val="tx1"/>
                </a:solidFill>
              </a:rPr>
              <a:t> </a:t>
            </a:r>
            <a:r>
              <a:rPr lang="en-ID" sz="3400" dirty="0" err="1">
                <a:solidFill>
                  <a:schemeClr val="tx1"/>
                </a:solidFill>
              </a:rPr>
              <a:t>direncanakan</a:t>
            </a:r>
            <a:r>
              <a:rPr lang="en-ID" sz="3400" dirty="0">
                <a:solidFill>
                  <a:schemeClr val="tx1"/>
                </a:solidFill>
              </a:rPr>
              <a:t>, yang </a:t>
            </a:r>
            <a:r>
              <a:rPr lang="en-ID" sz="3400" dirty="0" err="1">
                <a:solidFill>
                  <a:schemeClr val="tx1"/>
                </a:solidFill>
              </a:rPr>
              <a:t>didalamnya</a:t>
            </a:r>
            <a:r>
              <a:rPr lang="en-ID" sz="3400" dirty="0">
                <a:solidFill>
                  <a:schemeClr val="tx1"/>
                </a:solidFill>
              </a:rPr>
              <a:t> </a:t>
            </a:r>
            <a:r>
              <a:rPr lang="en-ID" sz="3400" dirty="0" err="1">
                <a:solidFill>
                  <a:schemeClr val="tx1"/>
                </a:solidFill>
              </a:rPr>
              <a:t>menggunakan</a:t>
            </a:r>
            <a:r>
              <a:rPr lang="en-ID" sz="3400" dirty="0">
                <a:solidFill>
                  <a:schemeClr val="tx1"/>
                </a:solidFill>
              </a:rPr>
              <a:t> </a:t>
            </a:r>
            <a:r>
              <a:rPr lang="en-ID" sz="3400" dirty="0" err="1">
                <a:solidFill>
                  <a:schemeClr val="tx1"/>
                </a:solidFill>
              </a:rPr>
              <a:t>sumber-sumber</a:t>
            </a:r>
            <a:r>
              <a:rPr lang="en-ID" sz="3400" dirty="0">
                <a:solidFill>
                  <a:schemeClr val="tx1"/>
                </a:solidFill>
              </a:rPr>
              <a:t> (input) </a:t>
            </a:r>
          </a:p>
          <a:p>
            <a:r>
              <a:rPr lang="en-ID" sz="3400" b="1" dirty="0" err="1">
                <a:solidFill>
                  <a:schemeClr val="tx1"/>
                </a:solidFill>
              </a:rPr>
              <a:t>Absensi</a:t>
            </a:r>
            <a:endParaRPr lang="en-ID" sz="3400" b="1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ID" sz="3400" dirty="0" err="1">
                <a:solidFill>
                  <a:schemeClr val="tx1"/>
                </a:solidFill>
              </a:rPr>
              <a:t>Absensi</a:t>
            </a:r>
            <a:r>
              <a:rPr lang="en-ID" sz="3400" b="1" dirty="0">
                <a:solidFill>
                  <a:schemeClr val="tx1"/>
                </a:solidFill>
              </a:rPr>
              <a:t> </a:t>
            </a:r>
            <a:r>
              <a:rPr lang="en-ID" sz="3400" dirty="0" err="1">
                <a:solidFill>
                  <a:schemeClr val="tx1"/>
                </a:solidFill>
              </a:rPr>
              <a:t>adalah</a:t>
            </a:r>
            <a:r>
              <a:rPr lang="en-ID" sz="3400" dirty="0">
                <a:solidFill>
                  <a:schemeClr val="tx1"/>
                </a:solidFill>
              </a:rPr>
              <a:t> </a:t>
            </a:r>
            <a:r>
              <a:rPr lang="en-ID" sz="3400" dirty="0" err="1">
                <a:solidFill>
                  <a:schemeClr val="tx1"/>
                </a:solidFill>
              </a:rPr>
              <a:t>pola</a:t>
            </a:r>
            <a:r>
              <a:rPr lang="en-ID" sz="3400" dirty="0">
                <a:solidFill>
                  <a:schemeClr val="tx1"/>
                </a:solidFill>
              </a:rPr>
              <a:t> </a:t>
            </a:r>
            <a:r>
              <a:rPr lang="en-ID" sz="3400" dirty="0" err="1">
                <a:solidFill>
                  <a:schemeClr val="tx1"/>
                </a:solidFill>
              </a:rPr>
              <a:t>kebiasaan</a:t>
            </a:r>
            <a:r>
              <a:rPr lang="en-ID" sz="3400" dirty="0">
                <a:solidFill>
                  <a:schemeClr val="tx1"/>
                </a:solidFill>
              </a:rPr>
              <a:t> </a:t>
            </a:r>
            <a:r>
              <a:rPr lang="en-ID" sz="3400" dirty="0" err="1">
                <a:solidFill>
                  <a:schemeClr val="tx1"/>
                </a:solidFill>
              </a:rPr>
              <a:t>ketidakhadiran</a:t>
            </a:r>
            <a:r>
              <a:rPr lang="en-ID" sz="3400" dirty="0">
                <a:solidFill>
                  <a:schemeClr val="tx1"/>
                </a:solidFill>
              </a:rPr>
              <a:t> </a:t>
            </a:r>
            <a:r>
              <a:rPr lang="en-ID" sz="3400" dirty="0" err="1">
                <a:solidFill>
                  <a:schemeClr val="tx1"/>
                </a:solidFill>
              </a:rPr>
              <a:t>dari</a:t>
            </a:r>
            <a:r>
              <a:rPr lang="en-ID" sz="3400" dirty="0">
                <a:solidFill>
                  <a:schemeClr val="tx1"/>
                </a:solidFill>
              </a:rPr>
              <a:t> </a:t>
            </a:r>
            <a:r>
              <a:rPr lang="en-ID" sz="3400" dirty="0" err="1">
                <a:solidFill>
                  <a:schemeClr val="tx1"/>
                </a:solidFill>
              </a:rPr>
              <a:t>tugas</a:t>
            </a:r>
            <a:r>
              <a:rPr lang="en-ID" sz="3400" dirty="0">
                <a:solidFill>
                  <a:schemeClr val="tx1"/>
                </a:solidFill>
              </a:rPr>
              <a:t> </a:t>
            </a:r>
            <a:r>
              <a:rPr lang="en-ID" sz="3400" dirty="0" err="1">
                <a:solidFill>
                  <a:schemeClr val="tx1"/>
                </a:solidFill>
              </a:rPr>
              <a:t>atau</a:t>
            </a:r>
            <a:r>
              <a:rPr lang="en-ID" sz="3400" dirty="0">
                <a:solidFill>
                  <a:schemeClr val="tx1"/>
                </a:solidFill>
              </a:rPr>
              <a:t> </a:t>
            </a:r>
            <a:r>
              <a:rPr lang="en-ID" sz="3400" dirty="0" err="1">
                <a:solidFill>
                  <a:schemeClr val="tx1"/>
                </a:solidFill>
              </a:rPr>
              <a:t>kewajiban</a:t>
            </a:r>
            <a:r>
              <a:rPr lang="en-ID" sz="3400" dirty="0">
                <a:solidFill>
                  <a:schemeClr val="tx1"/>
                </a:solidFill>
              </a:rPr>
              <a:t>. </a:t>
            </a:r>
          </a:p>
          <a:p>
            <a:pPr marL="0" indent="0">
              <a:buNone/>
            </a:pPr>
            <a:endParaRPr lang="en-ID" dirty="0"/>
          </a:p>
        </p:txBody>
      </p:sp>
      <p:sp>
        <p:nvSpPr>
          <p:cNvPr id="7" name="Title 3">
            <a:extLst>
              <a:ext uri="{FF2B5EF4-FFF2-40B4-BE49-F238E27FC236}">
                <a16:creationId xmlns:a16="http://schemas.microsoft.com/office/drawing/2014/main" xmlns="" id="{B827AE5C-335D-445D-93DC-89E2186AB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7808" y="3127512"/>
            <a:ext cx="4214192" cy="602975"/>
          </a:xfrm>
        </p:spPr>
        <p:txBody>
          <a:bodyPr>
            <a:normAutofit/>
          </a:bodyPr>
          <a:lstStyle/>
          <a:p>
            <a:r>
              <a:rPr lang="en-ID" sz="2800" dirty="0"/>
              <a:t>LANDASAN TEORI</a:t>
            </a:r>
          </a:p>
        </p:txBody>
      </p:sp>
    </p:spTree>
    <p:extLst>
      <p:ext uri="{BB962C8B-B14F-4D97-AF65-F5344CB8AC3E}">
        <p14:creationId xmlns:p14="http://schemas.microsoft.com/office/powerpoint/2010/main" val="1307792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2C9FFFA-6BE4-47C4-AB12-1C205F108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24730" y="5128915"/>
            <a:ext cx="3014869" cy="1086678"/>
          </a:xfrm>
        </p:spPr>
        <p:txBody>
          <a:bodyPr>
            <a:normAutofit fontScale="90000"/>
          </a:bodyPr>
          <a:lstStyle/>
          <a:p>
            <a:pPr algn="r"/>
            <a:r>
              <a:rPr lang="en-ID" sz="3200" dirty="0"/>
              <a:t>TOOLS YANG DIGUNAKAN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D81F8D5D-1F30-4531-AEAD-715F782C56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007" y="642406"/>
            <a:ext cx="6682671" cy="5573187"/>
          </a:xfrm>
        </p:spPr>
        <p:txBody>
          <a:bodyPr>
            <a:normAutofit fontScale="62500" lnSpcReduction="20000"/>
          </a:bodyPr>
          <a:lstStyle/>
          <a:p>
            <a:pPr lvl="2"/>
            <a:r>
              <a:rPr lang="en-ID" sz="2900" b="1" dirty="0">
                <a:solidFill>
                  <a:schemeClr val="tx1"/>
                </a:solidFill>
              </a:rPr>
              <a:t>HTML </a:t>
            </a:r>
            <a:endParaRPr lang="en-ID" sz="2500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ID" sz="3800" dirty="0">
                <a:solidFill>
                  <a:schemeClr val="tx1"/>
                </a:solidFill>
              </a:rPr>
              <a:t>HTML (</a:t>
            </a:r>
            <a:r>
              <a:rPr lang="en-ID" sz="3800" dirty="0" err="1">
                <a:solidFill>
                  <a:schemeClr val="tx1"/>
                </a:solidFill>
              </a:rPr>
              <a:t>Hyoertext</a:t>
            </a:r>
            <a:r>
              <a:rPr lang="en-ID" sz="3800" dirty="0">
                <a:solidFill>
                  <a:schemeClr val="tx1"/>
                </a:solidFill>
              </a:rPr>
              <a:t> </a:t>
            </a:r>
            <a:r>
              <a:rPr lang="en-ID" sz="3800" dirty="0" err="1">
                <a:solidFill>
                  <a:schemeClr val="tx1"/>
                </a:solidFill>
              </a:rPr>
              <a:t>Markup</a:t>
            </a:r>
            <a:r>
              <a:rPr lang="en-ID" sz="3800" dirty="0">
                <a:solidFill>
                  <a:schemeClr val="tx1"/>
                </a:solidFill>
              </a:rPr>
              <a:t> Language) </a:t>
            </a:r>
            <a:r>
              <a:rPr lang="en-ID" sz="3800" dirty="0" err="1">
                <a:solidFill>
                  <a:schemeClr val="tx1"/>
                </a:solidFill>
              </a:rPr>
              <a:t>adalah</a:t>
            </a:r>
            <a:r>
              <a:rPr lang="en-ID" sz="3800" dirty="0">
                <a:solidFill>
                  <a:schemeClr val="tx1"/>
                </a:solidFill>
              </a:rPr>
              <a:t> </a:t>
            </a:r>
            <a:r>
              <a:rPr lang="en-ID" sz="3800" dirty="0" err="1">
                <a:solidFill>
                  <a:schemeClr val="tx1"/>
                </a:solidFill>
              </a:rPr>
              <a:t>bahasa</a:t>
            </a:r>
            <a:r>
              <a:rPr lang="en-ID" sz="3800" dirty="0">
                <a:solidFill>
                  <a:schemeClr val="tx1"/>
                </a:solidFill>
              </a:rPr>
              <a:t> </a:t>
            </a:r>
            <a:r>
              <a:rPr lang="en-ID" sz="3800" dirty="0" err="1">
                <a:solidFill>
                  <a:schemeClr val="tx1"/>
                </a:solidFill>
              </a:rPr>
              <a:t>dasar</a:t>
            </a:r>
            <a:r>
              <a:rPr lang="en-ID" sz="3800" dirty="0">
                <a:solidFill>
                  <a:schemeClr val="tx1"/>
                </a:solidFill>
              </a:rPr>
              <a:t> </a:t>
            </a:r>
            <a:r>
              <a:rPr lang="en-ID" sz="3800" dirty="0" err="1">
                <a:solidFill>
                  <a:schemeClr val="tx1"/>
                </a:solidFill>
              </a:rPr>
              <a:t>untuk</a:t>
            </a:r>
            <a:r>
              <a:rPr lang="en-ID" sz="3800" dirty="0">
                <a:solidFill>
                  <a:schemeClr val="tx1"/>
                </a:solidFill>
              </a:rPr>
              <a:t> web scripting </a:t>
            </a:r>
            <a:r>
              <a:rPr lang="en-ID" sz="3800" dirty="0" err="1">
                <a:solidFill>
                  <a:schemeClr val="tx1"/>
                </a:solidFill>
              </a:rPr>
              <a:t>bersifat</a:t>
            </a:r>
            <a:r>
              <a:rPr lang="en-ID" sz="3800" dirty="0">
                <a:solidFill>
                  <a:schemeClr val="tx1"/>
                </a:solidFill>
              </a:rPr>
              <a:t> client side yang </a:t>
            </a:r>
            <a:r>
              <a:rPr lang="en-ID" sz="3800" dirty="0" err="1">
                <a:solidFill>
                  <a:schemeClr val="tx1"/>
                </a:solidFill>
              </a:rPr>
              <a:t>memungkinkan</a:t>
            </a:r>
            <a:r>
              <a:rPr lang="en-ID" sz="3800" dirty="0">
                <a:solidFill>
                  <a:schemeClr val="tx1"/>
                </a:solidFill>
              </a:rPr>
              <a:t> </a:t>
            </a:r>
            <a:r>
              <a:rPr lang="en-ID" sz="3800" dirty="0" err="1">
                <a:solidFill>
                  <a:schemeClr val="tx1"/>
                </a:solidFill>
              </a:rPr>
              <a:t>untuk</a:t>
            </a:r>
            <a:r>
              <a:rPr lang="en-ID" sz="3800" dirty="0">
                <a:solidFill>
                  <a:schemeClr val="tx1"/>
                </a:solidFill>
              </a:rPr>
              <a:t> </a:t>
            </a:r>
            <a:r>
              <a:rPr lang="en-ID" sz="3800" dirty="0" err="1">
                <a:solidFill>
                  <a:schemeClr val="tx1"/>
                </a:solidFill>
              </a:rPr>
              <a:t>menampilkan</a:t>
            </a:r>
            <a:r>
              <a:rPr lang="en-ID" sz="3800" dirty="0">
                <a:solidFill>
                  <a:schemeClr val="tx1"/>
                </a:solidFill>
              </a:rPr>
              <a:t> </a:t>
            </a:r>
            <a:r>
              <a:rPr lang="en-ID" sz="3800" dirty="0" err="1">
                <a:solidFill>
                  <a:schemeClr val="tx1"/>
                </a:solidFill>
              </a:rPr>
              <a:t>informasi</a:t>
            </a:r>
            <a:r>
              <a:rPr lang="en-ID" sz="3800" dirty="0">
                <a:solidFill>
                  <a:schemeClr val="tx1"/>
                </a:solidFill>
              </a:rPr>
              <a:t> </a:t>
            </a:r>
            <a:r>
              <a:rPr lang="en-ID" sz="3800" dirty="0" err="1">
                <a:solidFill>
                  <a:schemeClr val="tx1"/>
                </a:solidFill>
              </a:rPr>
              <a:t>dalam</a:t>
            </a:r>
            <a:r>
              <a:rPr lang="en-ID" sz="3800" dirty="0">
                <a:solidFill>
                  <a:schemeClr val="tx1"/>
                </a:solidFill>
              </a:rPr>
              <a:t> </a:t>
            </a:r>
            <a:r>
              <a:rPr lang="en-ID" sz="3800" dirty="0" err="1">
                <a:solidFill>
                  <a:schemeClr val="tx1"/>
                </a:solidFill>
              </a:rPr>
              <a:t>bentuk</a:t>
            </a:r>
            <a:r>
              <a:rPr lang="en-ID" sz="3800" dirty="0">
                <a:solidFill>
                  <a:schemeClr val="tx1"/>
                </a:solidFill>
              </a:rPr>
              <a:t> </a:t>
            </a:r>
            <a:r>
              <a:rPr lang="en-ID" sz="3800" dirty="0" err="1">
                <a:solidFill>
                  <a:schemeClr val="tx1"/>
                </a:solidFill>
              </a:rPr>
              <a:t>teks</a:t>
            </a:r>
            <a:r>
              <a:rPr lang="en-ID" sz="3800" dirty="0">
                <a:solidFill>
                  <a:schemeClr val="tx1"/>
                </a:solidFill>
              </a:rPr>
              <a:t>, </a:t>
            </a:r>
            <a:r>
              <a:rPr lang="en-ID" sz="3800" dirty="0" err="1">
                <a:solidFill>
                  <a:schemeClr val="tx1"/>
                </a:solidFill>
              </a:rPr>
              <a:t>grafik</a:t>
            </a:r>
            <a:r>
              <a:rPr lang="en-ID" sz="3800" dirty="0">
                <a:solidFill>
                  <a:schemeClr val="tx1"/>
                </a:solidFill>
              </a:rPr>
              <a:t>, </a:t>
            </a:r>
            <a:r>
              <a:rPr lang="en-ID" sz="3800" dirty="0" err="1">
                <a:solidFill>
                  <a:schemeClr val="tx1"/>
                </a:solidFill>
              </a:rPr>
              <a:t>serta</a:t>
            </a:r>
            <a:r>
              <a:rPr lang="en-ID" sz="3800" dirty="0">
                <a:solidFill>
                  <a:schemeClr val="tx1"/>
                </a:solidFill>
              </a:rPr>
              <a:t> multimedia dan juga </a:t>
            </a:r>
            <a:r>
              <a:rPr lang="en-ID" sz="3800" dirty="0" err="1">
                <a:solidFill>
                  <a:schemeClr val="tx1"/>
                </a:solidFill>
              </a:rPr>
              <a:t>untuk</a:t>
            </a:r>
            <a:r>
              <a:rPr lang="en-ID" sz="3800" dirty="0">
                <a:solidFill>
                  <a:schemeClr val="tx1"/>
                </a:solidFill>
              </a:rPr>
              <a:t> </a:t>
            </a:r>
            <a:r>
              <a:rPr lang="en-ID" sz="3800" dirty="0" err="1">
                <a:solidFill>
                  <a:schemeClr val="tx1"/>
                </a:solidFill>
              </a:rPr>
              <a:t>menggabungkan</a:t>
            </a:r>
            <a:r>
              <a:rPr lang="en-ID" sz="3800" dirty="0">
                <a:solidFill>
                  <a:schemeClr val="tx1"/>
                </a:solidFill>
              </a:rPr>
              <a:t> </a:t>
            </a:r>
            <a:r>
              <a:rPr lang="en-ID" sz="3800" dirty="0" err="1">
                <a:solidFill>
                  <a:schemeClr val="tx1"/>
                </a:solidFill>
              </a:rPr>
              <a:t>antara</a:t>
            </a:r>
            <a:r>
              <a:rPr lang="en-ID" sz="3800" dirty="0">
                <a:solidFill>
                  <a:schemeClr val="tx1"/>
                </a:solidFill>
              </a:rPr>
              <a:t> 9 </a:t>
            </a:r>
            <a:r>
              <a:rPr lang="en-ID" sz="3800" dirty="0" err="1">
                <a:solidFill>
                  <a:schemeClr val="tx1"/>
                </a:solidFill>
              </a:rPr>
              <a:t>tampilan</a:t>
            </a:r>
            <a:r>
              <a:rPr lang="en-ID" sz="3800" dirty="0">
                <a:solidFill>
                  <a:schemeClr val="tx1"/>
                </a:solidFill>
              </a:rPr>
              <a:t> web page(hyperlink). </a:t>
            </a:r>
            <a:endParaRPr lang="en-ID" sz="3400" dirty="0">
              <a:solidFill>
                <a:schemeClr val="tx1"/>
              </a:solidFill>
            </a:endParaRPr>
          </a:p>
          <a:p>
            <a:pPr lvl="2"/>
            <a:r>
              <a:rPr lang="en-ID" sz="2900" b="1" dirty="0">
                <a:solidFill>
                  <a:schemeClr val="tx1"/>
                </a:solidFill>
              </a:rPr>
              <a:t>PHP </a:t>
            </a:r>
            <a:endParaRPr lang="en-ID" sz="2500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ID" sz="3800" dirty="0">
                <a:solidFill>
                  <a:schemeClr val="tx1"/>
                </a:solidFill>
              </a:rPr>
              <a:t>PHP </a:t>
            </a:r>
            <a:r>
              <a:rPr lang="en-ID" sz="3800" dirty="0" err="1">
                <a:solidFill>
                  <a:schemeClr val="tx1"/>
                </a:solidFill>
              </a:rPr>
              <a:t>adalah</a:t>
            </a:r>
            <a:r>
              <a:rPr lang="en-ID" sz="3800" dirty="0">
                <a:solidFill>
                  <a:schemeClr val="tx1"/>
                </a:solidFill>
              </a:rPr>
              <a:t> salah </a:t>
            </a:r>
            <a:r>
              <a:rPr lang="en-ID" sz="3800" dirty="0" err="1">
                <a:solidFill>
                  <a:schemeClr val="tx1"/>
                </a:solidFill>
              </a:rPr>
              <a:t>satu</a:t>
            </a:r>
            <a:r>
              <a:rPr lang="en-ID" sz="3800" dirty="0">
                <a:solidFill>
                  <a:schemeClr val="tx1"/>
                </a:solidFill>
              </a:rPr>
              <a:t> </a:t>
            </a:r>
            <a:r>
              <a:rPr lang="en-ID" sz="3800" dirty="0" err="1">
                <a:solidFill>
                  <a:schemeClr val="tx1"/>
                </a:solidFill>
              </a:rPr>
              <a:t>bahasa</a:t>
            </a:r>
            <a:r>
              <a:rPr lang="en-ID" sz="3800" dirty="0">
                <a:solidFill>
                  <a:schemeClr val="tx1"/>
                </a:solidFill>
              </a:rPr>
              <a:t> </a:t>
            </a:r>
            <a:r>
              <a:rPr lang="en-ID" sz="3800" dirty="0" err="1">
                <a:solidFill>
                  <a:schemeClr val="tx1"/>
                </a:solidFill>
              </a:rPr>
              <a:t>pemrograman</a:t>
            </a:r>
            <a:r>
              <a:rPr lang="en-ID" sz="3800" dirty="0">
                <a:solidFill>
                  <a:schemeClr val="tx1"/>
                </a:solidFill>
              </a:rPr>
              <a:t> script </a:t>
            </a:r>
            <a:r>
              <a:rPr lang="en-ID" sz="3800" dirty="0" err="1">
                <a:solidFill>
                  <a:schemeClr val="tx1"/>
                </a:solidFill>
              </a:rPr>
              <a:t>bersifat</a:t>
            </a:r>
            <a:r>
              <a:rPr lang="en-ID" sz="3800" dirty="0">
                <a:solidFill>
                  <a:schemeClr val="tx1"/>
                </a:solidFill>
              </a:rPr>
              <a:t> open source yang </a:t>
            </a:r>
            <a:r>
              <a:rPr lang="en-ID" sz="3800" dirty="0" err="1">
                <a:solidFill>
                  <a:schemeClr val="tx1"/>
                </a:solidFill>
              </a:rPr>
              <a:t>bekerja</a:t>
            </a:r>
            <a:r>
              <a:rPr lang="en-ID" sz="3800" dirty="0">
                <a:solidFill>
                  <a:schemeClr val="tx1"/>
                </a:solidFill>
              </a:rPr>
              <a:t> pada </a:t>
            </a:r>
            <a:r>
              <a:rPr lang="en-ID" sz="3800" dirty="0" err="1">
                <a:solidFill>
                  <a:schemeClr val="tx1"/>
                </a:solidFill>
              </a:rPr>
              <a:t>sisi</a:t>
            </a:r>
            <a:r>
              <a:rPr lang="en-ID" sz="3800" dirty="0">
                <a:solidFill>
                  <a:schemeClr val="tx1"/>
                </a:solidFill>
              </a:rPr>
              <a:t> server, yang paling </a:t>
            </a:r>
            <a:r>
              <a:rPr lang="en-ID" sz="3800" dirty="0" err="1">
                <a:solidFill>
                  <a:schemeClr val="tx1"/>
                </a:solidFill>
              </a:rPr>
              <a:t>banyak</a:t>
            </a:r>
            <a:r>
              <a:rPr lang="en-ID" sz="3800" dirty="0">
                <a:solidFill>
                  <a:schemeClr val="tx1"/>
                </a:solidFill>
              </a:rPr>
              <a:t> </a:t>
            </a:r>
            <a:r>
              <a:rPr lang="en-ID" sz="3800" dirty="0" err="1">
                <a:solidFill>
                  <a:schemeClr val="tx1"/>
                </a:solidFill>
              </a:rPr>
              <a:t>dipakai</a:t>
            </a:r>
            <a:r>
              <a:rPr lang="en-ID" sz="3800" dirty="0">
                <a:solidFill>
                  <a:schemeClr val="tx1"/>
                </a:solidFill>
              </a:rPr>
              <a:t> </a:t>
            </a:r>
            <a:r>
              <a:rPr lang="en-ID" sz="3800" dirty="0" err="1">
                <a:solidFill>
                  <a:schemeClr val="tx1"/>
                </a:solidFill>
              </a:rPr>
              <a:t>saat</a:t>
            </a:r>
            <a:r>
              <a:rPr lang="en-ID" sz="3800" dirty="0">
                <a:solidFill>
                  <a:schemeClr val="tx1"/>
                </a:solidFill>
              </a:rPr>
              <a:t> </a:t>
            </a:r>
            <a:r>
              <a:rPr lang="en-ID" sz="3800" dirty="0" err="1">
                <a:solidFill>
                  <a:schemeClr val="tx1"/>
                </a:solidFill>
              </a:rPr>
              <a:t>ini</a:t>
            </a:r>
            <a:r>
              <a:rPr lang="en-ID" sz="3800" dirty="0">
                <a:solidFill>
                  <a:schemeClr val="tx1"/>
                </a:solidFill>
              </a:rPr>
              <a:t>.  </a:t>
            </a:r>
            <a:endParaRPr lang="en-ID" sz="3400" dirty="0">
              <a:solidFill>
                <a:schemeClr val="tx1"/>
              </a:solidFill>
            </a:endParaRPr>
          </a:p>
          <a:p>
            <a:pPr lvl="2"/>
            <a:r>
              <a:rPr lang="en-ID" sz="2900" b="1" dirty="0">
                <a:solidFill>
                  <a:schemeClr val="tx1"/>
                </a:solidFill>
              </a:rPr>
              <a:t>SQL </a:t>
            </a:r>
            <a:endParaRPr lang="en-ID" sz="2500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ID" sz="3800" dirty="0">
                <a:solidFill>
                  <a:schemeClr val="tx1"/>
                </a:solidFill>
              </a:rPr>
              <a:t>SQL (Structure Query Language)  </a:t>
            </a:r>
            <a:r>
              <a:rPr lang="en-ID" sz="3800" dirty="0" err="1">
                <a:solidFill>
                  <a:schemeClr val="tx1"/>
                </a:solidFill>
              </a:rPr>
              <a:t>adalah</a:t>
            </a:r>
            <a:r>
              <a:rPr lang="en-ID" sz="3800" dirty="0">
                <a:solidFill>
                  <a:schemeClr val="tx1"/>
                </a:solidFill>
              </a:rPr>
              <a:t> </a:t>
            </a:r>
            <a:r>
              <a:rPr lang="en-ID" sz="3800" dirty="0" err="1">
                <a:solidFill>
                  <a:schemeClr val="tx1"/>
                </a:solidFill>
              </a:rPr>
              <a:t>didasarkan</a:t>
            </a:r>
            <a:r>
              <a:rPr lang="en-ID" sz="3800" dirty="0">
                <a:solidFill>
                  <a:schemeClr val="tx1"/>
                </a:solidFill>
              </a:rPr>
              <a:t> pada </a:t>
            </a:r>
            <a:r>
              <a:rPr lang="en-ID" sz="3800" dirty="0" err="1">
                <a:solidFill>
                  <a:schemeClr val="tx1"/>
                </a:solidFill>
              </a:rPr>
              <a:t>himpunan</a:t>
            </a:r>
            <a:r>
              <a:rPr lang="en-ID" sz="3800" dirty="0">
                <a:solidFill>
                  <a:schemeClr val="tx1"/>
                </a:solidFill>
              </a:rPr>
              <a:t> </a:t>
            </a:r>
            <a:r>
              <a:rPr lang="en-ID" sz="3800" dirty="0" err="1">
                <a:solidFill>
                  <a:schemeClr val="tx1"/>
                </a:solidFill>
              </a:rPr>
              <a:t>operasi-operasi</a:t>
            </a:r>
            <a:r>
              <a:rPr lang="en-ID" sz="3800" dirty="0">
                <a:solidFill>
                  <a:schemeClr val="tx1"/>
                </a:solidFill>
              </a:rPr>
              <a:t> </a:t>
            </a:r>
            <a:r>
              <a:rPr lang="en-ID" sz="3800" dirty="0" err="1">
                <a:solidFill>
                  <a:schemeClr val="tx1"/>
                </a:solidFill>
              </a:rPr>
              <a:t>relasional</a:t>
            </a:r>
            <a:r>
              <a:rPr lang="en-ID" sz="3800" dirty="0">
                <a:solidFill>
                  <a:schemeClr val="tx1"/>
                </a:solidFill>
              </a:rPr>
              <a:t> yang </a:t>
            </a:r>
            <a:r>
              <a:rPr lang="en-ID" sz="3800" dirty="0" err="1">
                <a:solidFill>
                  <a:schemeClr val="tx1"/>
                </a:solidFill>
              </a:rPr>
              <a:t>telah</a:t>
            </a:r>
            <a:r>
              <a:rPr lang="en-ID" sz="3800" dirty="0">
                <a:solidFill>
                  <a:schemeClr val="tx1"/>
                </a:solidFill>
              </a:rPr>
              <a:t> </a:t>
            </a:r>
            <a:r>
              <a:rPr lang="en-ID" sz="3800" dirty="0" err="1">
                <a:solidFill>
                  <a:schemeClr val="tx1"/>
                </a:solidFill>
              </a:rPr>
              <a:t>dilakukan</a:t>
            </a:r>
            <a:r>
              <a:rPr lang="en-ID" sz="3800" dirty="0">
                <a:solidFill>
                  <a:schemeClr val="tx1"/>
                </a:solidFill>
              </a:rPr>
              <a:t> </a:t>
            </a:r>
            <a:r>
              <a:rPr lang="en-ID" sz="3800" dirty="0" err="1">
                <a:solidFill>
                  <a:schemeClr val="tx1"/>
                </a:solidFill>
              </a:rPr>
              <a:t>modifikasi</a:t>
            </a:r>
            <a:r>
              <a:rPr lang="en-ID" sz="3800" dirty="0">
                <a:solidFill>
                  <a:schemeClr val="tx1"/>
                </a:solidFill>
              </a:rPr>
              <a:t> dan </a:t>
            </a:r>
            <a:r>
              <a:rPr lang="en-ID" sz="3800" dirty="0" err="1">
                <a:solidFill>
                  <a:schemeClr val="tx1"/>
                </a:solidFill>
              </a:rPr>
              <a:t>perbaikan</a:t>
            </a:r>
            <a:r>
              <a:rPr lang="en-ID" sz="3800" dirty="0">
                <a:solidFill>
                  <a:schemeClr val="tx1"/>
                </a:solidFill>
              </a:rPr>
              <a:t>. </a:t>
            </a:r>
            <a:endParaRPr lang="en-ID" sz="34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974531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prism isInverted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98A3298-675C-48C5-908C-28A167E522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050" y="838200"/>
            <a:ext cx="6245349" cy="5181600"/>
          </a:xfrm>
        </p:spPr>
        <p:txBody>
          <a:bodyPr>
            <a:normAutofit fontScale="70000" lnSpcReduction="20000"/>
          </a:bodyPr>
          <a:lstStyle/>
          <a:p>
            <a:pPr lvl="2"/>
            <a:r>
              <a:rPr lang="en-ID" sz="3300" b="1" dirty="0">
                <a:solidFill>
                  <a:schemeClr val="tx1"/>
                </a:solidFill>
              </a:rPr>
              <a:t>Internet </a:t>
            </a:r>
            <a:endParaRPr lang="en-ID" sz="3300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ID" sz="3300" dirty="0">
                <a:solidFill>
                  <a:schemeClr val="tx1"/>
                </a:solidFill>
              </a:rPr>
              <a:t>Internet </a:t>
            </a:r>
            <a:r>
              <a:rPr lang="en-ID" sz="3300" dirty="0" err="1">
                <a:solidFill>
                  <a:schemeClr val="tx1"/>
                </a:solidFill>
              </a:rPr>
              <a:t>adalah</a:t>
            </a:r>
            <a:r>
              <a:rPr lang="en-ID" sz="3300" dirty="0">
                <a:solidFill>
                  <a:schemeClr val="tx1"/>
                </a:solidFill>
              </a:rPr>
              <a:t> </a:t>
            </a:r>
            <a:r>
              <a:rPr lang="en-ID" sz="3300" dirty="0" err="1">
                <a:solidFill>
                  <a:schemeClr val="tx1"/>
                </a:solidFill>
              </a:rPr>
              <a:t>sistem</a:t>
            </a:r>
            <a:r>
              <a:rPr lang="en-ID" sz="3300" dirty="0">
                <a:solidFill>
                  <a:schemeClr val="tx1"/>
                </a:solidFill>
              </a:rPr>
              <a:t> </a:t>
            </a:r>
            <a:r>
              <a:rPr lang="en-ID" sz="3300" dirty="0" err="1">
                <a:solidFill>
                  <a:schemeClr val="tx1"/>
                </a:solidFill>
              </a:rPr>
              <a:t>jaringan</a:t>
            </a:r>
            <a:r>
              <a:rPr lang="en-ID" sz="3300" dirty="0">
                <a:solidFill>
                  <a:schemeClr val="tx1"/>
                </a:solidFill>
              </a:rPr>
              <a:t> </a:t>
            </a:r>
            <a:r>
              <a:rPr lang="en-ID" sz="3300" dirty="0" err="1">
                <a:solidFill>
                  <a:schemeClr val="tx1"/>
                </a:solidFill>
              </a:rPr>
              <a:t>dari</a:t>
            </a:r>
            <a:r>
              <a:rPr lang="en-ID" sz="3300" dirty="0">
                <a:solidFill>
                  <a:schemeClr val="tx1"/>
                </a:solidFill>
              </a:rPr>
              <a:t> </a:t>
            </a:r>
            <a:r>
              <a:rPr lang="en-ID" sz="3300" dirty="0" err="1">
                <a:solidFill>
                  <a:schemeClr val="tx1"/>
                </a:solidFill>
              </a:rPr>
              <a:t>ribuan</a:t>
            </a:r>
            <a:r>
              <a:rPr lang="en-ID" sz="3300" dirty="0">
                <a:solidFill>
                  <a:schemeClr val="tx1"/>
                </a:solidFill>
              </a:rPr>
              <a:t> </a:t>
            </a:r>
            <a:r>
              <a:rPr lang="en-ID" sz="3300" dirty="0" err="1">
                <a:solidFill>
                  <a:schemeClr val="tx1"/>
                </a:solidFill>
              </a:rPr>
              <a:t>bahkan</a:t>
            </a:r>
            <a:r>
              <a:rPr lang="en-ID" sz="3300" dirty="0">
                <a:solidFill>
                  <a:schemeClr val="tx1"/>
                </a:solidFill>
              </a:rPr>
              <a:t> </a:t>
            </a:r>
            <a:r>
              <a:rPr lang="en-ID" sz="3300" dirty="0" err="1">
                <a:solidFill>
                  <a:schemeClr val="tx1"/>
                </a:solidFill>
              </a:rPr>
              <a:t>jutaan</a:t>
            </a:r>
            <a:r>
              <a:rPr lang="en-ID" sz="3300" dirty="0">
                <a:solidFill>
                  <a:schemeClr val="tx1"/>
                </a:solidFill>
              </a:rPr>
              <a:t> </a:t>
            </a:r>
            <a:r>
              <a:rPr lang="en-ID" sz="3300" dirty="0" err="1">
                <a:solidFill>
                  <a:schemeClr val="tx1"/>
                </a:solidFill>
              </a:rPr>
              <a:t>komputer</a:t>
            </a:r>
            <a:r>
              <a:rPr lang="en-ID" sz="3300" dirty="0">
                <a:solidFill>
                  <a:schemeClr val="tx1"/>
                </a:solidFill>
              </a:rPr>
              <a:t> yang </a:t>
            </a:r>
            <a:r>
              <a:rPr lang="en-ID" sz="3300" dirty="0" err="1">
                <a:solidFill>
                  <a:schemeClr val="tx1"/>
                </a:solidFill>
              </a:rPr>
              <a:t>ada</a:t>
            </a:r>
            <a:r>
              <a:rPr lang="en-ID" sz="3300" dirty="0">
                <a:solidFill>
                  <a:schemeClr val="tx1"/>
                </a:solidFill>
              </a:rPr>
              <a:t> di </a:t>
            </a:r>
            <a:r>
              <a:rPr lang="en-ID" sz="3300" dirty="0" err="1">
                <a:solidFill>
                  <a:schemeClr val="tx1"/>
                </a:solidFill>
              </a:rPr>
              <a:t>duna</a:t>
            </a:r>
            <a:r>
              <a:rPr lang="en-ID" sz="3300" dirty="0">
                <a:solidFill>
                  <a:schemeClr val="tx1"/>
                </a:solidFill>
              </a:rPr>
              <a:t> </a:t>
            </a:r>
            <a:r>
              <a:rPr lang="en-ID" sz="3300" dirty="0" err="1">
                <a:solidFill>
                  <a:schemeClr val="tx1"/>
                </a:solidFill>
              </a:rPr>
              <a:t>ini</a:t>
            </a:r>
            <a:r>
              <a:rPr lang="en-ID" sz="3300" dirty="0">
                <a:solidFill>
                  <a:schemeClr val="tx1"/>
                </a:solidFill>
              </a:rPr>
              <a:t>. </a:t>
            </a:r>
            <a:r>
              <a:rPr lang="en-ID" sz="3300" dirty="0" err="1">
                <a:solidFill>
                  <a:schemeClr val="tx1"/>
                </a:solidFill>
              </a:rPr>
              <a:t>jaringan</a:t>
            </a:r>
            <a:r>
              <a:rPr lang="en-ID" sz="3300" dirty="0">
                <a:solidFill>
                  <a:schemeClr val="tx1"/>
                </a:solidFill>
              </a:rPr>
              <a:t> </a:t>
            </a:r>
            <a:r>
              <a:rPr lang="en-ID" sz="3300" dirty="0" err="1">
                <a:solidFill>
                  <a:schemeClr val="tx1"/>
                </a:solidFill>
              </a:rPr>
              <a:t>dibentuk</a:t>
            </a:r>
            <a:r>
              <a:rPr lang="en-ID" sz="3300" dirty="0">
                <a:solidFill>
                  <a:schemeClr val="tx1"/>
                </a:solidFill>
              </a:rPr>
              <a:t> </a:t>
            </a:r>
            <a:r>
              <a:rPr lang="en-ID" sz="3300" dirty="0" err="1">
                <a:solidFill>
                  <a:schemeClr val="tx1"/>
                </a:solidFill>
              </a:rPr>
              <a:t>dengan</a:t>
            </a:r>
            <a:r>
              <a:rPr lang="en-ID" sz="3300" dirty="0">
                <a:solidFill>
                  <a:schemeClr val="tx1"/>
                </a:solidFill>
              </a:rPr>
              <a:t> </a:t>
            </a:r>
            <a:r>
              <a:rPr lang="en-ID" sz="3300" dirty="0" err="1">
                <a:solidFill>
                  <a:schemeClr val="tx1"/>
                </a:solidFill>
              </a:rPr>
              <a:t>saluran</a:t>
            </a:r>
            <a:r>
              <a:rPr lang="en-ID" sz="3300" dirty="0">
                <a:solidFill>
                  <a:schemeClr val="tx1"/>
                </a:solidFill>
              </a:rPr>
              <a:t> </a:t>
            </a:r>
            <a:r>
              <a:rPr lang="en-ID" sz="3300" dirty="0" err="1">
                <a:solidFill>
                  <a:schemeClr val="tx1"/>
                </a:solidFill>
              </a:rPr>
              <a:t>telepon</a:t>
            </a:r>
            <a:r>
              <a:rPr lang="en-ID" sz="3300" dirty="0">
                <a:solidFill>
                  <a:schemeClr val="tx1"/>
                </a:solidFill>
              </a:rPr>
              <a:t>, </a:t>
            </a:r>
            <a:r>
              <a:rPr lang="en-ID" sz="3300" dirty="0" err="1">
                <a:solidFill>
                  <a:schemeClr val="tx1"/>
                </a:solidFill>
              </a:rPr>
              <a:t>saluran</a:t>
            </a:r>
            <a:r>
              <a:rPr lang="en-ID" sz="3300" dirty="0">
                <a:solidFill>
                  <a:schemeClr val="tx1"/>
                </a:solidFill>
              </a:rPr>
              <a:t> </a:t>
            </a:r>
            <a:r>
              <a:rPr lang="en-ID" sz="3300" dirty="0" err="1">
                <a:solidFill>
                  <a:schemeClr val="tx1"/>
                </a:solidFill>
              </a:rPr>
              <a:t>kawat</a:t>
            </a:r>
            <a:r>
              <a:rPr lang="en-ID" sz="3300" dirty="0">
                <a:solidFill>
                  <a:schemeClr val="tx1"/>
                </a:solidFill>
              </a:rPr>
              <a:t> </a:t>
            </a:r>
            <a:r>
              <a:rPr lang="en-ID" sz="3300" dirty="0" err="1">
                <a:solidFill>
                  <a:schemeClr val="tx1"/>
                </a:solidFill>
              </a:rPr>
              <a:t>maupun</a:t>
            </a:r>
            <a:r>
              <a:rPr lang="en-ID" sz="3300" dirty="0">
                <a:solidFill>
                  <a:schemeClr val="tx1"/>
                </a:solidFill>
              </a:rPr>
              <a:t> </a:t>
            </a:r>
            <a:r>
              <a:rPr lang="en-ID" sz="3300" dirty="0" err="1">
                <a:solidFill>
                  <a:schemeClr val="tx1"/>
                </a:solidFill>
              </a:rPr>
              <a:t>saluran</a:t>
            </a:r>
            <a:r>
              <a:rPr lang="en-ID" sz="3300" dirty="0">
                <a:solidFill>
                  <a:schemeClr val="tx1"/>
                </a:solidFill>
              </a:rPr>
              <a:t> radio. Internet </a:t>
            </a:r>
            <a:r>
              <a:rPr lang="en-ID" sz="3300" dirty="0" err="1">
                <a:solidFill>
                  <a:schemeClr val="tx1"/>
                </a:solidFill>
              </a:rPr>
              <a:t>lebih</a:t>
            </a:r>
            <a:r>
              <a:rPr lang="en-ID" sz="3300" dirty="0">
                <a:solidFill>
                  <a:schemeClr val="tx1"/>
                </a:solidFill>
              </a:rPr>
              <a:t> </a:t>
            </a:r>
            <a:r>
              <a:rPr lang="en-ID" sz="3300" dirty="0" err="1">
                <a:solidFill>
                  <a:schemeClr val="tx1"/>
                </a:solidFill>
              </a:rPr>
              <a:t>berperan</a:t>
            </a:r>
            <a:r>
              <a:rPr lang="en-ID" sz="3300" dirty="0">
                <a:solidFill>
                  <a:schemeClr val="tx1"/>
                </a:solidFill>
              </a:rPr>
              <a:t> </a:t>
            </a:r>
            <a:r>
              <a:rPr lang="en-ID" sz="3300" dirty="0" err="1">
                <a:solidFill>
                  <a:schemeClr val="tx1"/>
                </a:solidFill>
              </a:rPr>
              <a:t>sebagai</a:t>
            </a:r>
            <a:r>
              <a:rPr lang="en-ID" sz="3300" dirty="0">
                <a:solidFill>
                  <a:schemeClr val="tx1"/>
                </a:solidFill>
              </a:rPr>
              <a:t> media </a:t>
            </a:r>
            <a:r>
              <a:rPr lang="en-ID" sz="3300" dirty="0" err="1">
                <a:solidFill>
                  <a:schemeClr val="tx1"/>
                </a:solidFill>
              </a:rPr>
              <a:t>komunikasi</a:t>
            </a:r>
            <a:r>
              <a:rPr lang="en-ID" sz="3300" dirty="0">
                <a:solidFill>
                  <a:schemeClr val="tx1"/>
                </a:solidFill>
              </a:rPr>
              <a:t> </a:t>
            </a:r>
            <a:r>
              <a:rPr lang="en-ID" sz="3300" dirty="0" err="1">
                <a:solidFill>
                  <a:schemeClr val="tx1"/>
                </a:solidFill>
              </a:rPr>
              <a:t>antar</a:t>
            </a:r>
            <a:r>
              <a:rPr lang="en-ID" sz="3300" dirty="0">
                <a:solidFill>
                  <a:schemeClr val="tx1"/>
                </a:solidFill>
              </a:rPr>
              <a:t> </a:t>
            </a:r>
            <a:r>
              <a:rPr lang="en-ID" sz="3300" dirty="0" err="1">
                <a:solidFill>
                  <a:schemeClr val="tx1"/>
                </a:solidFill>
              </a:rPr>
              <a:t>pemakainya</a:t>
            </a:r>
            <a:r>
              <a:rPr lang="en-ID" sz="3300" dirty="0">
                <a:solidFill>
                  <a:schemeClr val="tx1"/>
                </a:solidFill>
              </a:rPr>
              <a:t> yang </a:t>
            </a:r>
            <a:r>
              <a:rPr lang="en-ID" sz="3300" dirty="0" err="1">
                <a:solidFill>
                  <a:schemeClr val="tx1"/>
                </a:solidFill>
              </a:rPr>
              <a:t>tersebar</a:t>
            </a:r>
            <a:r>
              <a:rPr lang="en-ID" sz="3300" dirty="0">
                <a:solidFill>
                  <a:schemeClr val="tx1"/>
                </a:solidFill>
              </a:rPr>
              <a:t> di </a:t>
            </a:r>
            <a:r>
              <a:rPr lang="en-ID" sz="3300" dirty="0" err="1">
                <a:solidFill>
                  <a:schemeClr val="tx1"/>
                </a:solidFill>
              </a:rPr>
              <a:t>seluruh</a:t>
            </a:r>
            <a:r>
              <a:rPr lang="en-ID" sz="3300" dirty="0">
                <a:solidFill>
                  <a:schemeClr val="tx1"/>
                </a:solidFill>
              </a:rPr>
              <a:t> </a:t>
            </a:r>
            <a:r>
              <a:rPr lang="en-ID" sz="3300" dirty="0" err="1">
                <a:solidFill>
                  <a:schemeClr val="tx1"/>
                </a:solidFill>
              </a:rPr>
              <a:t>pelosok</a:t>
            </a:r>
            <a:r>
              <a:rPr lang="en-ID" sz="3300" dirty="0">
                <a:solidFill>
                  <a:schemeClr val="tx1"/>
                </a:solidFill>
              </a:rPr>
              <a:t> dunia.</a:t>
            </a:r>
          </a:p>
          <a:p>
            <a:pPr lvl="2"/>
            <a:r>
              <a:rPr lang="en-ID" sz="3300" b="1" dirty="0">
                <a:solidFill>
                  <a:schemeClr val="tx1"/>
                </a:solidFill>
              </a:rPr>
              <a:t>Sublime Text</a:t>
            </a:r>
            <a:endParaRPr lang="en-ID" sz="3300" dirty="0">
              <a:solidFill>
                <a:schemeClr val="tx1"/>
              </a:solidFill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ID" sz="3300" dirty="0">
                <a:solidFill>
                  <a:schemeClr val="tx1"/>
                </a:solidFill>
              </a:rPr>
              <a:t>Sublime Text </a:t>
            </a:r>
            <a:r>
              <a:rPr lang="en-ID" sz="3300" dirty="0" err="1">
                <a:solidFill>
                  <a:schemeClr val="tx1"/>
                </a:solidFill>
              </a:rPr>
              <a:t>adalah</a:t>
            </a:r>
            <a:r>
              <a:rPr lang="en-ID" sz="3300" dirty="0">
                <a:solidFill>
                  <a:schemeClr val="tx1"/>
                </a:solidFill>
              </a:rPr>
              <a:t> </a:t>
            </a:r>
            <a:r>
              <a:rPr lang="en-ID" sz="3300" dirty="0" err="1">
                <a:solidFill>
                  <a:schemeClr val="tx1"/>
                </a:solidFill>
              </a:rPr>
              <a:t>sebuah</a:t>
            </a:r>
            <a:r>
              <a:rPr lang="en-ID" sz="3300" dirty="0">
                <a:solidFill>
                  <a:schemeClr val="tx1"/>
                </a:solidFill>
              </a:rPr>
              <a:t> software </a:t>
            </a:r>
            <a:r>
              <a:rPr lang="en-ID" sz="3300" dirty="0" err="1">
                <a:solidFill>
                  <a:schemeClr val="tx1"/>
                </a:solidFill>
              </a:rPr>
              <a:t>aplikasi</a:t>
            </a:r>
            <a:r>
              <a:rPr lang="en-ID" sz="3300" dirty="0">
                <a:solidFill>
                  <a:schemeClr val="tx1"/>
                </a:solidFill>
              </a:rPr>
              <a:t>/editor text </a:t>
            </a:r>
            <a:r>
              <a:rPr lang="en-ID" sz="3300" dirty="0" err="1">
                <a:solidFill>
                  <a:schemeClr val="tx1"/>
                </a:solidFill>
              </a:rPr>
              <a:t>untuk</a:t>
            </a:r>
            <a:r>
              <a:rPr lang="en-ID" sz="3300" dirty="0">
                <a:solidFill>
                  <a:schemeClr val="tx1"/>
                </a:solidFill>
              </a:rPr>
              <a:t> </a:t>
            </a:r>
            <a:r>
              <a:rPr lang="en-ID" sz="3300" dirty="0" err="1">
                <a:solidFill>
                  <a:schemeClr val="tx1"/>
                </a:solidFill>
              </a:rPr>
              <a:t>bahas</a:t>
            </a:r>
            <a:r>
              <a:rPr lang="en-ID" sz="3300" dirty="0">
                <a:solidFill>
                  <a:schemeClr val="tx1"/>
                </a:solidFill>
              </a:rPr>
              <a:t> </a:t>
            </a:r>
            <a:r>
              <a:rPr lang="en-ID" sz="3300" dirty="0" err="1">
                <a:solidFill>
                  <a:schemeClr val="tx1"/>
                </a:solidFill>
              </a:rPr>
              <a:t>pemrograman</a:t>
            </a:r>
            <a:r>
              <a:rPr lang="en-ID" sz="3300" dirty="0">
                <a:solidFill>
                  <a:schemeClr val="tx1"/>
                </a:solidFill>
              </a:rPr>
              <a:t> </a:t>
            </a:r>
            <a:r>
              <a:rPr lang="en-ID" sz="3300" dirty="0" err="1">
                <a:solidFill>
                  <a:schemeClr val="tx1"/>
                </a:solidFill>
              </a:rPr>
              <a:t>termasuk</a:t>
            </a:r>
            <a:r>
              <a:rPr lang="en-ID" sz="3300" dirty="0">
                <a:solidFill>
                  <a:schemeClr val="tx1"/>
                </a:solidFill>
              </a:rPr>
              <a:t> </a:t>
            </a:r>
            <a:r>
              <a:rPr lang="en-ID" sz="3300" dirty="0" err="1">
                <a:solidFill>
                  <a:schemeClr val="tx1"/>
                </a:solidFill>
              </a:rPr>
              <a:t>pemrograman</a:t>
            </a:r>
            <a:r>
              <a:rPr lang="en-ID" sz="3300" dirty="0">
                <a:solidFill>
                  <a:schemeClr val="tx1"/>
                </a:solidFill>
              </a:rPr>
              <a:t> </a:t>
            </a:r>
            <a:r>
              <a:rPr lang="en-ID" sz="3300" dirty="0" err="1">
                <a:solidFill>
                  <a:schemeClr val="tx1"/>
                </a:solidFill>
              </a:rPr>
              <a:t>PHP,sublime</a:t>
            </a:r>
            <a:r>
              <a:rPr lang="en-ID" sz="3300" dirty="0">
                <a:solidFill>
                  <a:schemeClr val="tx1"/>
                </a:solidFill>
              </a:rPr>
              <a:t> text </a:t>
            </a:r>
            <a:r>
              <a:rPr lang="en-ID" sz="3300" dirty="0" err="1">
                <a:solidFill>
                  <a:schemeClr val="tx1"/>
                </a:solidFill>
              </a:rPr>
              <a:t>mendukung</a:t>
            </a:r>
            <a:r>
              <a:rPr lang="en-ID" sz="3300" dirty="0">
                <a:solidFill>
                  <a:schemeClr val="tx1"/>
                </a:solidFill>
              </a:rPr>
              <a:t> </a:t>
            </a:r>
            <a:r>
              <a:rPr lang="en-ID" sz="3300" dirty="0" err="1">
                <a:solidFill>
                  <a:schemeClr val="tx1"/>
                </a:solidFill>
              </a:rPr>
              <a:t>banyak</a:t>
            </a:r>
            <a:r>
              <a:rPr lang="en-ID" sz="3300" dirty="0">
                <a:solidFill>
                  <a:schemeClr val="tx1"/>
                </a:solidFill>
              </a:rPr>
              <a:t> </a:t>
            </a:r>
            <a:r>
              <a:rPr lang="en-ID" sz="3300" dirty="0" err="1">
                <a:solidFill>
                  <a:schemeClr val="tx1"/>
                </a:solidFill>
              </a:rPr>
              <a:t>bahasa</a:t>
            </a:r>
            <a:r>
              <a:rPr lang="en-ID" sz="3300" dirty="0">
                <a:solidFill>
                  <a:schemeClr val="tx1"/>
                </a:solidFill>
              </a:rPr>
              <a:t> </a:t>
            </a:r>
            <a:r>
              <a:rPr lang="en-ID" sz="3300" dirty="0" err="1">
                <a:solidFill>
                  <a:schemeClr val="tx1"/>
                </a:solidFill>
              </a:rPr>
              <a:t>pemrogrman</a:t>
            </a:r>
            <a:r>
              <a:rPr lang="en-ID" sz="3300" dirty="0">
                <a:solidFill>
                  <a:schemeClr val="tx1"/>
                </a:solidFill>
              </a:rPr>
              <a:t> dan </a:t>
            </a:r>
            <a:r>
              <a:rPr lang="en-ID" sz="3300" dirty="0" err="1">
                <a:solidFill>
                  <a:schemeClr val="tx1"/>
                </a:solidFill>
              </a:rPr>
              <a:t>bahasa</a:t>
            </a:r>
            <a:r>
              <a:rPr lang="en-ID" sz="3300" dirty="0">
                <a:solidFill>
                  <a:schemeClr val="tx1"/>
                </a:solidFill>
              </a:rPr>
              <a:t> </a:t>
            </a:r>
            <a:r>
              <a:rPr lang="en-ID" sz="3300" dirty="0" err="1">
                <a:solidFill>
                  <a:schemeClr val="tx1"/>
                </a:solidFill>
              </a:rPr>
              <a:t>markup</a:t>
            </a:r>
            <a:r>
              <a:rPr lang="en-ID" sz="3300" dirty="0">
                <a:solidFill>
                  <a:schemeClr val="tx1"/>
                </a:solidFill>
              </a:rPr>
              <a:t> </a:t>
            </a:r>
            <a:r>
              <a:rPr lang="en-ID" sz="3300" dirty="0" err="1">
                <a:solidFill>
                  <a:schemeClr val="tx1"/>
                </a:solidFill>
              </a:rPr>
              <a:t>serta</a:t>
            </a:r>
            <a:r>
              <a:rPr lang="en-ID" sz="3300" dirty="0">
                <a:solidFill>
                  <a:schemeClr val="tx1"/>
                </a:solidFill>
              </a:rPr>
              <a:t> </a:t>
            </a:r>
            <a:r>
              <a:rPr lang="en-ID" sz="3300" dirty="0" err="1">
                <a:solidFill>
                  <a:schemeClr val="tx1"/>
                </a:solidFill>
              </a:rPr>
              <a:t>fungsinya</a:t>
            </a:r>
            <a:r>
              <a:rPr lang="en-ID" sz="3300" dirty="0">
                <a:solidFill>
                  <a:schemeClr val="tx1"/>
                </a:solidFill>
              </a:rPr>
              <a:t> </a:t>
            </a:r>
            <a:r>
              <a:rPr lang="en-ID" sz="3300" dirty="0" err="1">
                <a:solidFill>
                  <a:schemeClr val="tx1"/>
                </a:solidFill>
              </a:rPr>
              <a:t>dapat</a:t>
            </a:r>
            <a:r>
              <a:rPr lang="en-ID" sz="3300" dirty="0">
                <a:solidFill>
                  <a:schemeClr val="tx1"/>
                </a:solidFill>
              </a:rPr>
              <a:t> </a:t>
            </a:r>
            <a:r>
              <a:rPr lang="en-ID" sz="3300" dirty="0" err="1">
                <a:solidFill>
                  <a:schemeClr val="tx1"/>
                </a:solidFill>
              </a:rPr>
              <a:t>ditambah</a:t>
            </a:r>
            <a:r>
              <a:rPr lang="en-ID" sz="3300" dirty="0">
                <a:solidFill>
                  <a:schemeClr val="tx1"/>
                </a:solidFill>
              </a:rPr>
              <a:t> </a:t>
            </a:r>
            <a:r>
              <a:rPr lang="en-ID" sz="3300" dirty="0" err="1">
                <a:solidFill>
                  <a:schemeClr val="tx1"/>
                </a:solidFill>
              </a:rPr>
              <a:t>dengan</a:t>
            </a:r>
            <a:r>
              <a:rPr lang="en-ID" sz="3300" dirty="0">
                <a:solidFill>
                  <a:schemeClr val="tx1"/>
                </a:solidFill>
              </a:rPr>
              <a:t> plugin.</a:t>
            </a:r>
          </a:p>
          <a:p>
            <a:endParaRPr lang="en-ID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xmlns="" id="{C96298DF-C01E-45C6-B76B-83B711342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24730" y="5128915"/>
            <a:ext cx="3014869" cy="1086678"/>
          </a:xfrm>
        </p:spPr>
        <p:txBody>
          <a:bodyPr>
            <a:normAutofit fontScale="90000"/>
          </a:bodyPr>
          <a:lstStyle/>
          <a:p>
            <a:pPr algn="r"/>
            <a:r>
              <a:rPr lang="en-ID" sz="3200" dirty="0"/>
              <a:t>TOOLS YANG DIGUNAKAN</a:t>
            </a:r>
          </a:p>
        </p:txBody>
      </p:sp>
    </p:spTree>
    <p:extLst>
      <p:ext uri="{BB962C8B-B14F-4D97-AF65-F5344CB8AC3E}">
        <p14:creationId xmlns:p14="http://schemas.microsoft.com/office/powerpoint/2010/main" val="3093218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conveyor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xmlns="" id="{AABB1AB8-48FF-495A-A52B-4306FB4C3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4475" y="166659"/>
            <a:ext cx="3092115" cy="1507435"/>
          </a:xfrm>
        </p:spPr>
        <p:txBody>
          <a:bodyPr>
            <a:normAutofit/>
          </a:bodyPr>
          <a:lstStyle/>
          <a:p>
            <a:pPr algn="r"/>
            <a:r>
              <a:rPr lang="en-ID" sz="2800" dirty="0" err="1"/>
              <a:t>KERANGKa</a:t>
            </a:r>
            <a:r>
              <a:rPr lang="en-ID" sz="2800" dirty="0"/>
              <a:t> </a:t>
            </a:r>
            <a:r>
              <a:rPr lang="en-ID" sz="2800" dirty="0" err="1"/>
              <a:t>pembuatan</a:t>
            </a:r>
            <a:r>
              <a:rPr lang="en-ID" sz="2800" dirty="0"/>
              <a:t> APLIKASI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xmlns="" id="{5E8F9CD5-9A83-42CF-849D-7E9CF24FF1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ID" dirty="0" err="1">
                <a:solidFill>
                  <a:schemeClr val="tx1"/>
                </a:solidFill>
              </a:rPr>
              <a:t>Algoritma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pembuatan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absensi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berbasis</a:t>
            </a:r>
            <a:r>
              <a:rPr lang="en-ID" dirty="0">
                <a:solidFill>
                  <a:schemeClr val="tx1"/>
                </a:solidFill>
              </a:rPr>
              <a:t> website :</a:t>
            </a:r>
          </a:p>
          <a:p>
            <a:pPr lvl="0"/>
            <a:r>
              <a:rPr lang="en-ID" dirty="0" err="1">
                <a:solidFill>
                  <a:schemeClr val="tx1"/>
                </a:solidFill>
              </a:rPr>
              <a:t>Mendiskusikan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pembuatan</a:t>
            </a:r>
            <a:r>
              <a:rPr lang="en-ID" dirty="0">
                <a:solidFill>
                  <a:schemeClr val="tx1"/>
                </a:solidFill>
              </a:rPr>
              <a:t> software/</a:t>
            </a:r>
            <a:r>
              <a:rPr lang="en-ID" dirty="0" err="1">
                <a:solidFill>
                  <a:schemeClr val="tx1"/>
                </a:solidFill>
              </a:rPr>
              <a:t>aplikasi</a:t>
            </a:r>
            <a:endParaRPr lang="en-ID" dirty="0">
              <a:solidFill>
                <a:schemeClr val="tx1"/>
              </a:solidFill>
            </a:endParaRPr>
          </a:p>
          <a:p>
            <a:pPr lvl="0"/>
            <a:r>
              <a:rPr lang="en-ID" dirty="0" err="1">
                <a:solidFill>
                  <a:schemeClr val="tx1"/>
                </a:solidFill>
              </a:rPr>
              <a:t>Menentukan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pembuatan</a:t>
            </a:r>
            <a:r>
              <a:rPr lang="en-ID" dirty="0">
                <a:solidFill>
                  <a:schemeClr val="tx1"/>
                </a:solidFill>
              </a:rPr>
              <a:t> software </a:t>
            </a:r>
            <a:r>
              <a:rPr lang="en-ID" dirty="0" err="1">
                <a:solidFill>
                  <a:schemeClr val="tx1"/>
                </a:solidFill>
              </a:rPr>
              <a:t>aplikasi</a:t>
            </a:r>
            <a:endParaRPr lang="en-ID" dirty="0">
              <a:solidFill>
                <a:schemeClr val="tx1"/>
              </a:solidFill>
            </a:endParaRPr>
          </a:p>
          <a:p>
            <a:pPr lvl="0"/>
            <a:r>
              <a:rPr lang="en-ID" dirty="0" err="1">
                <a:solidFill>
                  <a:schemeClr val="tx1"/>
                </a:solidFill>
              </a:rPr>
              <a:t>Pengumpulan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kebutuhan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sistem</a:t>
            </a:r>
            <a:endParaRPr lang="en-ID" dirty="0">
              <a:solidFill>
                <a:schemeClr val="tx1"/>
              </a:solidFill>
            </a:endParaRPr>
          </a:p>
          <a:p>
            <a:pPr lvl="0"/>
            <a:r>
              <a:rPr lang="en-ID" dirty="0" err="1">
                <a:solidFill>
                  <a:schemeClr val="tx1"/>
                </a:solidFill>
              </a:rPr>
              <a:t>Merancang</a:t>
            </a:r>
            <a:r>
              <a:rPr lang="en-ID" dirty="0">
                <a:solidFill>
                  <a:schemeClr val="tx1"/>
                </a:solidFill>
              </a:rPr>
              <a:t> dan </a:t>
            </a:r>
            <a:r>
              <a:rPr lang="en-ID" dirty="0" err="1">
                <a:solidFill>
                  <a:schemeClr val="tx1"/>
                </a:solidFill>
              </a:rPr>
              <a:t>membangun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sistem</a:t>
            </a:r>
            <a:endParaRPr lang="en-ID" dirty="0">
              <a:solidFill>
                <a:schemeClr val="tx1"/>
              </a:solidFill>
            </a:endParaRPr>
          </a:p>
          <a:p>
            <a:pPr lvl="0"/>
            <a:r>
              <a:rPr lang="en-ID" dirty="0">
                <a:solidFill>
                  <a:schemeClr val="tx1"/>
                </a:solidFill>
              </a:rPr>
              <a:t>Unit testing dan </a:t>
            </a:r>
            <a:r>
              <a:rPr lang="en-ID" dirty="0" err="1">
                <a:solidFill>
                  <a:schemeClr val="tx1"/>
                </a:solidFill>
              </a:rPr>
              <a:t>implementasi</a:t>
            </a:r>
            <a:endParaRPr lang="en-ID" dirty="0">
              <a:solidFill>
                <a:schemeClr val="tx1"/>
              </a:solidFill>
            </a:endParaRPr>
          </a:p>
          <a:p>
            <a:pPr lvl="0"/>
            <a:r>
              <a:rPr lang="en-ID" dirty="0" err="1">
                <a:solidFill>
                  <a:schemeClr val="tx1"/>
                </a:solidFill>
              </a:rPr>
              <a:t>Evaluasi</a:t>
            </a:r>
            <a:endParaRPr lang="en-ID" dirty="0">
              <a:solidFill>
                <a:schemeClr val="tx1"/>
              </a:solidFill>
            </a:endParaRPr>
          </a:p>
          <a:p>
            <a:pPr lvl="0"/>
            <a:r>
              <a:rPr lang="en-ID" dirty="0" err="1">
                <a:solidFill>
                  <a:schemeClr val="tx1"/>
                </a:solidFill>
              </a:rPr>
              <a:t>Pengembangan</a:t>
            </a:r>
            <a:r>
              <a:rPr lang="en-ID" dirty="0">
                <a:solidFill>
                  <a:schemeClr val="tx1"/>
                </a:solidFill>
              </a:rPr>
              <a:t> dan </a:t>
            </a:r>
            <a:r>
              <a:rPr lang="en-ID" dirty="0" err="1">
                <a:solidFill>
                  <a:schemeClr val="tx1"/>
                </a:solidFill>
              </a:rPr>
              <a:t>perawatan</a:t>
            </a:r>
            <a:endParaRPr lang="en-ID" dirty="0">
              <a:solidFill>
                <a:schemeClr val="tx1"/>
              </a:solidFill>
            </a:endParaRP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668818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prism isContent="1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6">
            <a:extLst>
              <a:ext uri="{FF2B5EF4-FFF2-40B4-BE49-F238E27FC236}">
                <a16:creationId xmlns:a16="http://schemas.microsoft.com/office/drawing/2014/main" xmlns="" id="{10E17104-DC64-4370-93A7-4A647C30D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4475" y="166659"/>
            <a:ext cx="3092115" cy="1507435"/>
          </a:xfrm>
        </p:spPr>
        <p:txBody>
          <a:bodyPr>
            <a:normAutofit/>
          </a:bodyPr>
          <a:lstStyle/>
          <a:p>
            <a:pPr algn="r"/>
            <a:r>
              <a:rPr lang="en-ID" sz="2800" dirty="0" err="1"/>
              <a:t>KERANGKa</a:t>
            </a:r>
            <a:r>
              <a:rPr lang="en-ID" sz="2800" dirty="0"/>
              <a:t> </a:t>
            </a:r>
            <a:r>
              <a:rPr lang="en-ID" sz="2800" dirty="0" err="1"/>
              <a:t>pembuatan</a:t>
            </a:r>
            <a:r>
              <a:rPr lang="en-ID" sz="2800" dirty="0"/>
              <a:t> APLIKASI</a:t>
            </a:r>
          </a:p>
        </p:txBody>
      </p:sp>
      <p:sp>
        <p:nvSpPr>
          <p:cNvPr id="7" name="Flowchart: Terminator 6">
            <a:extLst>
              <a:ext uri="{FF2B5EF4-FFF2-40B4-BE49-F238E27FC236}">
                <a16:creationId xmlns:a16="http://schemas.microsoft.com/office/drawing/2014/main" xmlns="" id="{B91F7DC7-C727-4217-9919-46CDD9CDA2A5}"/>
              </a:ext>
            </a:extLst>
          </p:cNvPr>
          <p:cNvSpPr/>
          <p:nvPr/>
        </p:nvSpPr>
        <p:spPr>
          <a:xfrm>
            <a:off x="2987399" y="43203"/>
            <a:ext cx="2078038" cy="638175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D" sz="10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Mendiskusikan pembuatan software/aplikasi</a:t>
            </a:r>
            <a:endParaRPr lang="en-ID" sz="11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Flowchart: Decision 7">
            <a:extLst>
              <a:ext uri="{FF2B5EF4-FFF2-40B4-BE49-F238E27FC236}">
                <a16:creationId xmlns:a16="http://schemas.microsoft.com/office/drawing/2014/main" xmlns="" id="{9603E0E5-16D3-43B7-B87B-F77602CB0A0F}"/>
              </a:ext>
            </a:extLst>
          </p:cNvPr>
          <p:cNvSpPr/>
          <p:nvPr/>
        </p:nvSpPr>
        <p:spPr>
          <a:xfrm>
            <a:off x="2812774" y="1035391"/>
            <a:ext cx="2398713" cy="1243012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D" sz="11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Menentukan pembuatan software/aplikasi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5C609854-FBA0-4D66-B5AB-71C1F4C748D2}"/>
              </a:ext>
            </a:extLst>
          </p:cNvPr>
          <p:cNvSpPr/>
          <p:nvPr/>
        </p:nvSpPr>
        <p:spPr>
          <a:xfrm>
            <a:off x="3285849" y="3399178"/>
            <a:ext cx="1482725" cy="50006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D" sz="11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Merancang dan membangun sistem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1CB3DFEC-63F4-4444-9A68-3E3AF44DDD96}"/>
              </a:ext>
            </a:extLst>
          </p:cNvPr>
          <p:cNvSpPr/>
          <p:nvPr/>
        </p:nvSpPr>
        <p:spPr>
          <a:xfrm>
            <a:off x="3300137" y="4194516"/>
            <a:ext cx="1484312" cy="50006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D" sz="11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Unit testing dan implementasi</a:t>
            </a:r>
          </a:p>
        </p:txBody>
      </p:sp>
      <p:sp>
        <p:nvSpPr>
          <p:cNvPr id="11" name="Flowchart: Decision 10">
            <a:extLst>
              <a:ext uri="{FF2B5EF4-FFF2-40B4-BE49-F238E27FC236}">
                <a16:creationId xmlns:a16="http://schemas.microsoft.com/office/drawing/2014/main" xmlns="" id="{E8D420FA-8EB5-48D1-A7F0-82F245829E8E}"/>
              </a:ext>
            </a:extLst>
          </p:cNvPr>
          <p:cNvSpPr/>
          <p:nvPr/>
        </p:nvSpPr>
        <p:spPr>
          <a:xfrm>
            <a:off x="3215999" y="5037478"/>
            <a:ext cx="1612900" cy="862013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D" sz="11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Evaluasi</a:t>
            </a:r>
          </a:p>
        </p:txBody>
      </p:sp>
      <p:sp>
        <p:nvSpPr>
          <p:cNvPr id="12" name="Parallelogram 11">
            <a:extLst>
              <a:ext uri="{FF2B5EF4-FFF2-40B4-BE49-F238E27FC236}">
                <a16:creationId xmlns:a16="http://schemas.microsoft.com/office/drawing/2014/main" xmlns="" id="{483D3CE1-EB85-4D8B-AD94-C545C6304F35}"/>
              </a:ext>
            </a:extLst>
          </p:cNvPr>
          <p:cNvSpPr/>
          <p:nvPr/>
        </p:nvSpPr>
        <p:spPr>
          <a:xfrm>
            <a:off x="3157262" y="6177303"/>
            <a:ext cx="1751012" cy="628650"/>
          </a:xfrm>
          <a:prstGeom prst="parallelogram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D" sz="11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Pengembangan dan perawatan</a:t>
            </a:r>
          </a:p>
        </p:txBody>
      </p:sp>
      <p:sp>
        <p:nvSpPr>
          <p:cNvPr id="13" name="Parallelogram 12">
            <a:extLst>
              <a:ext uri="{FF2B5EF4-FFF2-40B4-BE49-F238E27FC236}">
                <a16:creationId xmlns:a16="http://schemas.microsoft.com/office/drawing/2014/main" xmlns="" id="{271BD137-1CDD-4163-8B9B-8ACE3D938E8C}"/>
              </a:ext>
            </a:extLst>
          </p:cNvPr>
          <p:cNvSpPr/>
          <p:nvPr/>
        </p:nvSpPr>
        <p:spPr>
          <a:xfrm>
            <a:off x="3155674" y="2538753"/>
            <a:ext cx="1751013" cy="550863"/>
          </a:xfrm>
          <a:prstGeom prst="parallelogram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D" sz="11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Pengumpulan kebutuhan sistem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xmlns="" id="{6C03F3F6-8F25-44E0-BC62-88117CF28F55}"/>
              </a:ext>
            </a:extLst>
          </p:cNvPr>
          <p:cNvCxnSpPr>
            <a:cxnSpLocks/>
          </p:cNvCxnSpPr>
          <p:nvPr/>
        </p:nvCxnSpPr>
        <p:spPr>
          <a:xfrm>
            <a:off x="3993874" y="682966"/>
            <a:ext cx="0" cy="2762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xmlns="" id="{648D4D6A-3C39-447B-9A62-9429B2E269FF}"/>
              </a:ext>
            </a:extLst>
          </p:cNvPr>
          <p:cNvCxnSpPr>
            <a:cxnSpLocks/>
          </p:cNvCxnSpPr>
          <p:nvPr/>
        </p:nvCxnSpPr>
        <p:spPr>
          <a:xfrm>
            <a:off x="4022449" y="2286341"/>
            <a:ext cx="0" cy="1809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xmlns="" id="{F8897BFC-71B6-478A-8FB1-82C0D2F137DD}"/>
              </a:ext>
            </a:extLst>
          </p:cNvPr>
          <p:cNvCxnSpPr>
            <a:cxnSpLocks/>
          </p:cNvCxnSpPr>
          <p:nvPr/>
        </p:nvCxnSpPr>
        <p:spPr>
          <a:xfrm>
            <a:off x="4022449" y="3088028"/>
            <a:ext cx="0" cy="2508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xmlns="" id="{F485910D-BFE5-45C3-A455-75A2DAB1A141}"/>
              </a:ext>
            </a:extLst>
          </p:cNvPr>
          <p:cNvCxnSpPr>
            <a:cxnSpLocks/>
          </p:cNvCxnSpPr>
          <p:nvPr/>
        </p:nvCxnSpPr>
        <p:spPr>
          <a:xfrm>
            <a:off x="4022449" y="3899241"/>
            <a:ext cx="0" cy="2333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xmlns="" id="{39448DB1-5962-403B-ACD7-0D5FB360D94F}"/>
              </a:ext>
            </a:extLst>
          </p:cNvPr>
          <p:cNvCxnSpPr>
            <a:cxnSpLocks/>
          </p:cNvCxnSpPr>
          <p:nvPr/>
        </p:nvCxnSpPr>
        <p:spPr>
          <a:xfrm>
            <a:off x="4022449" y="4692991"/>
            <a:ext cx="0" cy="3095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xmlns="" id="{9ECE873E-17DC-45CA-89A9-153017A2EA04}"/>
              </a:ext>
            </a:extLst>
          </p:cNvPr>
          <p:cNvCxnSpPr>
            <a:cxnSpLocks/>
          </p:cNvCxnSpPr>
          <p:nvPr/>
        </p:nvCxnSpPr>
        <p:spPr>
          <a:xfrm>
            <a:off x="4022449" y="5901078"/>
            <a:ext cx="0" cy="2333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37F5E7C3-D6BA-4B02-98DC-E7F2495A602E}"/>
              </a:ext>
            </a:extLst>
          </p:cNvPr>
          <p:cNvSpPr txBox="1"/>
          <p:nvPr/>
        </p:nvSpPr>
        <p:spPr>
          <a:xfrm>
            <a:off x="426845" y="199316"/>
            <a:ext cx="22898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dirty="0"/>
              <a:t>Flow Chart </a:t>
            </a:r>
            <a:r>
              <a:rPr lang="en-ID" dirty="0" err="1"/>
              <a:t>pembuatan</a:t>
            </a:r>
            <a:r>
              <a:rPr lang="en-ID" dirty="0"/>
              <a:t> </a:t>
            </a:r>
            <a:r>
              <a:rPr lang="en-ID" dirty="0" err="1"/>
              <a:t>absensi</a:t>
            </a:r>
            <a:r>
              <a:rPr lang="en-ID" dirty="0"/>
              <a:t> </a:t>
            </a:r>
            <a:r>
              <a:rPr lang="en-ID" dirty="0" err="1"/>
              <a:t>berbasis</a:t>
            </a:r>
            <a:r>
              <a:rPr lang="en-ID" dirty="0"/>
              <a:t> website :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4434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erris dir="l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905F0B2F-9512-4616-A08A-2B16C0E0B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D" dirty="0"/>
              <a:t>Bab iii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xmlns="" id="{8AF97A05-BEE1-4683-8F54-1990D56C6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D" dirty="0" err="1"/>
              <a:t>Metodologi</a:t>
            </a:r>
            <a:r>
              <a:rPr lang="en-ID" dirty="0"/>
              <a:t> </a:t>
            </a:r>
            <a:r>
              <a:rPr lang="en-ID" dirty="0" err="1"/>
              <a:t>penelitian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427846858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p14:dur="1250">
        <p15:prstTrans prst="fractur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xmlns="" id="{667296DD-60CB-4562-A519-562D19DF97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55052" y="181946"/>
            <a:ext cx="7309226" cy="916328"/>
          </a:xfrm>
        </p:spPr>
        <p:txBody>
          <a:bodyPr/>
          <a:lstStyle/>
          <a:p>
            <a:r>
              <a:rPr lang="en-ID" b="1" dirty="0" err="1"/>
              <a:t>Metodologi</a:t>
            </a:r>
            <a:r>
              <a:rPr lang="en-ID" b="1" dirty="0"/>
              <a:t> </a:t>
            </a:r>
            <a:r>
              <a:rPr lang="en-ID" b="1" dirty="0" err="1"/>
              <a:t>Penelitian</a:t>
            </a:r>
            <a:endParaRPr lang="en-ID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xmlns="" id="{7303CA71-7C57-45B6-A1F3-CF25CE71BC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5020" y="1098274"/>
            <a:ext cx="10696163" cy="1366630"/>
          </a:xfrm>
        </p:spPr>
        <p:txBody>
          <a:bodyPr>
            <a:normAutofit/>
          </a:bodyPr>
          <a:lstStyle/>
          <a:p>
            <a:r>
              <a:rPr lang="en-ID" sz="2400" dirty="0" err="1">
                <a:solidFill>
                  <a:schemeClr val="tx1"/>
                </a:solidFill>
              </a:rPr>
              <a:t>Metodologi</a:t>
            </a:r>
            <a:r>
              <a:rPr lang="en-ID" sz="2400" dirty="0">
                <a:solidFill>
                  <a:schemeClr val="tx1"/>
                </a:solidFill>
              </a:rPr>
              <a:t> yang </a:t>
            </a:r>
            <a:r>
              <a:rPr lang="en-ID" sz="2400" dirty="0" err="1">
                <a:solidFill>
                  <a:schemeClr val="tx1"/>
                </a:solidFill>
              </a:rPr>
              <a:t>digunakan</a:t>
            </a:r>
            <a:r>
              <a:rPr lang="en-ID" sz="2400" dirty="0">
                <a:solidFill>
                  <a:schemeClr val="tx1"/>
                </a:solidFill>
              </a:rPr>
              <a:t> </a:t>
            </a:r>
            <a:r>
              <a:rPr lang="en-ID" sz="2400" dirty="0" err="1">
                <a:solidFill>
                  <a:schemeClr val="tx1"/>
                </a:solidFill>
              </a:rPr>
              <a:t>dalam</a:t>
            </a:r>
            <a:r>
              <a:rPr lang="en-ID" sz="2400" dirty="0">
                <a:solidFill>
                  <a:schemeClr val="tx1"/>
                </a:solidFill>
              </a:rPr>
              <a:t> </a:t>
            </a:r>
            <a:r>
              <a:rPr lang="en-ID" sz="2400" dirty="0" err="1">
                <a:solidFill>
                  <a:schemeClr val="tx1"/>
                </a:solidFill>
              </a:rPr>
              <a:t>penyelesaian</a:t>
            </a:r>
            <a:r>
              <a:rPr lang="en-ID" sz="2400" dirty="0">
                <a:solidFill>
                  <a:schemeClr val="tx1"/>
                </a:solidFill>
              </a:rPr>
              <a:t> </a:t>
            </a:r>
            <a:r>
              <a:rPr lang="en-ID" sz="2400" dirty="0" err="1">
                <a:solidFill>
                  <a:schemeClr val="tx1"/>
                </a:solidFill>
              </a:rPr>
              <a:t>aplikasi</a:t>
            </a:r>
            <a:r>
              <a:rPr lang="en-ID" sz="2400" dirty="0">
                <a:solidFill>
                  <a:schemeClr val="tx1"/>
                </a:solidFill>
              </a:rPr>
              <a:t> </a:t>
            </a:r>
            <a:r>
              <a:rPr lang="en-ID" sz="2400" dirty="0" err="1">
                <a:solidFill>
                  <a:schemeClr val="tx1"/>
                </a:solidFill>
              </a:rPr>
              <a:t>ini</a:t>
            </a:r>
            <a:r>
              <a:rPr lang="en-ID" sz="2400" dirty="0">
                <a:solidFill>
                  <a:schemeClr val="tx1"/>
                </a:solidFill>
              </a:rPr>
              <a:t> </a:t>
            </a:r>
            <a:r>
              <a:rPr lang="en-ID" sz="2400" dirty="0" err="1">
                <a:solidFill>
                  <a:schemeClr val="tx1"/>
                </a:solidFill>
              </a:rPr>
              <a:t>adalah</a:t>
            </a:r>
            <a:r>
              <a:rPr lang="en-ID" sz="2400" dirty="0">
                <a:solidFill>
                  <a:schemeClr val="tx1"/>
                </a:solidFill>
              </a:rPr>
              <a:t> </a:t>
            </a:r>
            <a:r>
              <a:rPr lang="en-ID" sz="2400" dirty="0" err="1">
                <a:solidFill>
                  <a:schemeClr val="tx1"/>
                </a:solidFill>
              </a:rPr>
              <a:t>menggunakan</a:t>
            </a:r>
            <a:r>
              <a:rPr lang="en-ID" sz="2400" dirty="0">
                <a:solidFill>
                  <a:schemeClr val="tx1"/>
                </a:solidFill>
              </a:rPr>
              <a:t> </a:t>
            </a:r>
            <a:r>
              <a:rPr lang="en-ID" sz="2400" dirty="0" err="1">
                <a:solidFill>
                  <a:schemeClr val="tx1"/>
                </a:solidFill>
              </a:rPr>
              <a:t>tahap</a:t>
            </a:r>
            <a:r>
              <a:rPr lang="en-ID" sz="2400" dirty="0">
                <a:solidFill>
                  <a:schemeClr val="tx1"/>
                </a:solidFill>
              </a:rPr>
              <a:t> </a:t>
            </a:r>
            <a:r>
              <a:rPr lang="en-ID" sz="2400" dirty="0" err="1">
                <a:solidFill>
                  <a:schemeClr val="tx1"/>
                </a:solidFill>
              </a:rPr>
              <a:t>pengembangan</a:t>
            </a:r>
            <a:r>
              <a:rPr lang="en-ID" sz="2400" dirty="0">
                <a:solidFill>
                  <a:schemeClr val="tx1"/>
                </a:solidFill>
              </a:rPr>
              <a:t> </a:t>
            </a:r>
            <a:r>
              <a:rPr lang="en-ID" sz="2400" dirty="0" err="1">
                <a:solidFill>
                  <a:schemeClr val="tx1"/>
                </a:solidFill>
              </a:rPr>
              <a:t>perangkat</a:t>
            </a:r>
            <a:r>
              <a:rPr lang="en-ID" sz="2400" dirty="0">
                <a:solidFill>
                  <a:schemeClr val="tx1"/>
                </a:solidFill>
              </a:rPr>
              <a:t> </a:t>
            </a:r>
            <a:r>
              <a:rPr lang="en-ID" sz="2400" dirty="0" err="1">
                <a:solidFill>
                  <a:schemeClr val="tx1"/>
                </a:solidFill>
              </a:rPr>
              <a:t>lunak</a:t>
            </a:r>
            <a:r>
              <a:rPr lang="en-ID" sz="2400" dirty="0">
                <a:solidFill>
                  <a:schemeClr val="tx1"/>
                </a:solidFill>
              </a:rPr>
              <a:t> yang </a:t>
            </a:r>
            <a:r>
              <a:rPr lang="en-ID" sz="2400" dirty="0" err="1">
                <a:solidFill>
                  <a:schemeClr val="tx1"/>
                </a:solidFill>
              </a:rPr>
              <a:t>dilakukan</a:t>
            </a:r>
            <a:r>
              <a:rPr lang="en-ID" sz="2400" dirty="0">
                <a:solidFill>
                  <a:schemeClr val="tx1"/>
                </a:solidFill>
              </a:rPr>
              <a:t> </a:t>
            </a:r>
            <a:r>
              <a:rPr lang="en-ID" sz="2400" dirty="0" err="1">
                <a:solidFill>
                  <a:schemeClr val="tx1"/>
                </a:solidFill>
              </a:rPr>
              <a:t>dengan</a:t>
            </a:r>
            <a:r>
              <a:rPr lang="en-ID" sz="2400" dirty="0">
                <a:solidFill>
                  <a:schemeClr val="tx1"/>
                </a:solidFill>
              </a:rPr>
              <a:t> </a:t>
            </a:r>
            <a:r>
              <a:rPr lang="en-ID" sz="2400" dirty="0" err="1">
                <a:solidFill>
                  <a:schemeClr val="tx1"/>
                </a:solidFill>
              </a:rPr>
              <a:t>menggunakan</a:t>
            </a:r>
            <a:r>
              <a:rPr lang="en-ID" sz="2400" dirty="0">
                <a:solidFill>
                  <a:schemeClr val="tx1"/>
                </a:solidFill>
              </a:rPr>
              <a:t> </a:t>
            </a:r>
            <a:r>
              <a:rPr lang="en-ID" sz="2400" dirty="0" err="1">
                <a:solidFill>
                  <a:schemeClr val="tx1"/>
                </a:solidFill>
              </a:rPr>
              <a:t>metode</a:t>
            </a:r>
            <a:r>
              <a:rPr lang="en-ID" sz="2400" dirty="0">
                <a:solidFill>
                  <a:schemeClr val="tx1"/>
                </a:solidFill>
              </a:rPr>
              <a:t> Waterfall, </a:t>
            </a:r>
            <a:r>
              <a:rPr lang="en-ID" sz="2400" dirty="0" err="1">
                <a:solidFill>
                  <a:schemeClr val="tx1"/>
                </a:solidFill>
              </a:rPr>
              <a:t>sebagai</a:t>
            </a:r>
            <a:r>
              <a:rPr lang="en-ID" sz="2400" dirty="0">
                <a:solidFill>
                  <a:schemeClr val="tx1"/>
                </a:solidFill>
              </a:rPr>
              <a:t> </a:t>
            </a:r>
            <a:r>
              <a:rPr lang="en-ID" sz="2400" dirty="0" err="1">
                <a:solidFill>
                  <a:schemeClr val="tx1"/>
                </a:solidFill>
              </a:rPr>
              <a:t>berikut</a:t>
            </a:r>
            <a:r>
              <a:rPr lang="en-ID" sz="2400" dirty="0">
                <a:solidFill>
                  <a:schemeClr val="tx1"/>
                </a:solidFill>
              </a:rPr>
              <a:t>.</a:t>
            </a:r>
          </a:p>
        </p:txBody>
      </p:sp>
      <p:pic>
        <p:nvPicPr>
          <p:cNvPr id="12" name="Content Placeholder 11" descr="Image result for metodologi waterfall">
            <a:extLst>
              <a:ext uri="{FF2B5EF4-FFF2-40B4-BE49-F238E27FC236}">
                <a16:creationId xmlns:a16="http://schemas.microsoft.com/office/drawing/2014/main" xmlns="" id="{258E9B2F-2A05-485E-A19B-8387D5D71C97}"/>
              </a:ext>
            </a:extLst>
          </p:cNvPr>
          <p:cNvPicPr>
            <a:picLocks noGrp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3287" y="2676939"/>
            <a:ext cx="5897217" cy="37340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02598281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p14:dur="1250">
        <p15:prstTrans prst="fallOve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5E3E2210-7CBE-4575-B3FA-B3A6CB72DF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304800"/>
            <a:ext cx="10178322" cy="624177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D" dirty="0" err="1">
                <a:solidFill>
                  <a:schemeClr val="tx1"/>
                </a:solidFill>
              </a:rPr>
              <a:t>Tahapan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metode</a:t>
            </a:r>
            <a:r>
              <a:rPr lang="en-ID" dirty="0">
                <a:solidFill>
                  <a:schemeClr val="tx1"/>
                </a:solidFill>
              </a:rPr>
              <a:t> waterfall :</a:t>
            </a:r>
          </a:p>
          <a:p>
            <a:pPr marL="0" indent="0">
              <a:buNone/>
            </a:pPr>
            <a:r>
              <a:rPr lang="en-ID" dirty="0">
                <a:solidFill>
                  <a:schemeClr val="tx1"/>
                </a:solidFill>
              </a:rPr>
              <a:t>1.  </a:t>
            </a:r>
            <a:r>
              <a:rPr lang="en-ID" dirty="0" err="1">
                <a:solidFill>
                  <a:schemeClr val="tx1"/>
                </a:solidFill>
              </a:rPr>
              <a:t>Analisis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Kebutuhan</a:t>
            </a:r>
            <a:r>
              <a:rPr lang="en-ID" dirty="0">
                <a:solidFill>
                  <a:schemeClr val="tx1"/>
                </a:solidFill>
              </a:rPr>
              <a:t> </a:t>
            </a:r>
          </a:p>
          <a:p>
            <a:r>
              <a:rPr lang="en-ID" dirty="0">
                <a:solidFill>
                  <a:schemeClr val="tx1"/>
                </a:solidFill>
              </a:rPr>
              <a:t>Pada </a:t>
            </a:r>
            <a:r>
              <a:rPr lang="en-ID" dirty="0" err="1">
                <a:solidFill>
                  <a:schemeClr val="tx1"/>
                </a:solidFill>
              </a:rPr>
              <a:t>tahap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ini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merupakan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analisis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kebutuhan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sistem</a:t>
            </a:r>
            <a:r>
              <a:rPr lang="en-ID" dirty="0">
                <a:solidFill>
                  <a:schemeClr val="tx1"/>
                </a:solidFill>
              </a:rPr>
              <a:t>. </a:t>
            </a:r>
            <a:r>
              <a:rPr lang="en-ID" dirty="0" err="1">
                <a:solidFill>
                  <a:schemeClr val="tx1"/>
                </a:solidFill>
              </a:rPr>
              <a:t>Pengumpulan</a:t>
            </a:r>
            <a:r>
              <a:rPr lang="en-ID" dirty="0">
                <a:solidFill>
                  <a:schemeClr val="tx1"/>
                </a:solidFill>
              </a:rPr>
              <a:t> data </a:t>
            </a:r>
            <a:r>
              <a:rPr lang="en-ID" dirty="0" err="1">
                <a:solidFill>
                  <a:schemeClr val="tx1"/>
                </a:solidFill>
              </a:rPr>
              <a:t>dengan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melakukan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wawancara</a:t>
            </a:r>
            <a:r>
              <a:rPr lang="en-ID" dirty="0">
                <a:solidFill>
                  <a:schemeClr val="tx1"/>
                </a:solidFill>
              </a:rPr>
              <a:t> dan </a:t>
            </a:r>
            <a:r>
              <a:rPr lang="en-ID" dirty="0" err="1">
                <a:solidFill>
                  <a:schemeClr val="tx1"/>
                </a:solidFill>
              </a:rPr>
              <a:t>studi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smtClean="0">
                <a:solidFill>
                  <a:schemeClr val="tx1"/>
                </a:solidFill>
              </a:rPr>
              <a:t>pustaka. </a:t>
            </a:r>
            <a:endParaRPr lang="en-ID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ID" dirty="0">
                <a:solidFill>
                  <a:schemeClr val="tx1"/>
                </a:solidFill>
              </a:rPr>
              <a:t>2.  </a:t>
            </a:r>
            <a:r>
              <a:rPr lang="en-ID" dirty="0" err="1">
                <a:solidFill>
                  <a:schemeClr val="tx1"/>
                </a:solidFill>
              </a:rPr>
              <a:t>Desain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Sistem</a:t>
            </a:r>
            <a:r>
              <a:rPr lang="en-ID" dirty="0">
                <a:solidFill>
                  <a:schemeClr val="tx1"/>
                </a:solidFill>
              </a:rPr>
              <a:t> </a:t>
            </a:r>
          </a:p>
          <a:p>
            <a:r>
              <a:rPr lang="en-ID" dirty="0">
                <a:solidFill>
                  <a:schemeClr val="tx1"/>
                </a:solidFill>
              </a:rPr>
              <a:t>Pada  </a:t>
            </a:r>
            <a:r>
              <a:rPr lang="en-ID" dirty="0" err="1">
                <a:solidFill>
                  <a:schemeClr val="tx1"/>
                </a:solidFill>
              </a:rPr>
              <a:t>tahap</a:t>
            </a:r>
            <a:r>
              <a:rPr lang="en-ID" dirty="0">
                <a:solidFill>
                  <a:schemeClr val="tx1"/>
                </a:solidFill>
              </a:rPr>
              <a:t>  </a:t>
            </a:r>
            <a:r>
              <a:rPr lang="en-ID" dirty="0" err="1">
                <a:solidFill>
                  <a:schemeClr val="tx1"/>
                </a:solidFill>
              </a:rPr>
              <a:t>ini</a:t>
            </a:r>
            <a:r>
              <a:rPr lang="en-ID" dirty="0">
                <a:solidFill>
                  <a:schemeClr val="tx1"/>
                </a:solidFill>
              </a:rPr>
              <a:t>  </a:t>
            </a:r>
            <a:r>
              <a:rPr lang="en-ID" dirty="0" err="1">
                <a:solidFill>
                  <a:schemeClr val="tx1"/>
                </a:solidFill>
              </a:rPr>
              <a:t>merupakan</a:t>
            </a:r>
            <a:r>
              <a:rPr lang="en-ID" dirty="0">
                <a:solidFill>
                  <a:schemeClr val="tx1"/>
                </a:solidFill>
              </a:rPr>
              <a:t>  proses  </a:t>
            </a:r>
            <a:r>
              <a:rPr lang="en-ID" dirty="0" err="1">
                <a:solidFill>
                  <a:schemeClr val="tx1"/>
                </a:solidFill>
              </a:rPr>
              <a:t>desain</a:t>
            </a:r>
            <a:r>
              <a:rPr lang="en-ID" dirty="0">
                <a:solidFill>
                  <a:schemeClr val="tx1"/>
                </a:solidFill>
              </a:rPr>
              <a:t>  yang </a:t>
            </a:r>
            <a:r>
              <a:rPr lang="en-ID" dirty="0" err="1">
                <a:solidFill>
                  <a:schemeClr val="tx1"/>
                </a:solidFill>
              </a:rPr>
              <a:t>akan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menerjemahkan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syarat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kebutuhan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ke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sebuah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perancangan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perangkat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lunak</a:t>
            </a:r>
            <a:r>
              <a:rPr lang="en-ID" dirty="0">
                <a:solidFill>
                  <a:schemeClr val="tx1"/>
                </a:solidFill>
              </a:rPr>
              <a:t> yang </a:t>
            </a:r>
            <a:r>
              <a:rPr lang="en-ID" dirty="0" err="1">
                <a:solidFill>
                  <a:schemeClr val="tx1"/>
                </a:solidFill>
              </a:rPr>
              <a:t>dapat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diperkirakan</a:t>
            </a:r>
            <a:r>
              <a:rPr lang="en-ID" dirty="0">
                <a:solidFill>
                  <a:schemeClr val="tx1"/>
                </a:solidFill>
              </a:rPr>
              <a:t>  </a:t>
            </a:r>
            <a:r>
              <a:rPr lang="en-ID" dirty="0" err="1">
                <a:solidFill>
                  <a:schemeClr val="tx1"/>
                </a:solidFill>
              </a:rPr>
              <a:t>sebelum</a:t>
            </a:r>
            <a:r>
              <a:rPr lang="en-ID" dirty="0">
                <a:solidFill>
                  <a:schemeClr val="tx1"/>
                </a:solidFill>
              </a:rPr>
              <a:t>  </a:t>
            </a:r>
            <a:r>
              <a:rPr lang="en-ID" dirty="0" err="1">
                <a:solidFill>
                  <a:schemeClr val="tx1"/>
                </a:solidFill>
              </a:rPr>
              <a:t>dibuat</a:t>
            </a:r>
            <a:r>
              <a:rPr lang="en-ID" dirty="0">
                <a:solidFill>
                  <a:schemeClr val="tx1"/>
                </a:solidFill>
              </a:rPr>
              <a:t>  </a:t>
            </a:r>
            <a:r>
              <a:rPr lang="en-ID" dirty="0" err="1">
                <a:solidFill>
                  <a:schemeClr val="tx1"/>
                </a:solidFill>
              </a:rPr>
              <a:t>menggunakan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bahasa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pemrograman</a:t>
            </a:r>
            <a:r>
              <a:rPr lang="en-ID" dirty="0">
                <a:solidFill>
                  <a:schemeClr val="tx1"/>
                </a:solidFill>
              </a:rPr>
              <a:t>. </a:t>
            </a:r>
            <a:r>
              <a:rPr lang="en-ID" dirty="0" err="1">
                <a:solidFill>
                  <a:schemeClr val="tx1"/>
                </a:solidFill>
              </a:rPr>
              <a:t>Desain</a:t>
            </a:r>
            <a:r>
              <a:rPr lang="en-ID" dirty="0">
                <a:solidFill>
                  <a:schemeClr val="tx1"/>
                </a:solidFill>
              </a:rPr>
              <a:t> yang </a:t>
            </a:r>
            <a:r>
              <a:rPr lang="en-ID" dirty="0" err="1">
                <a:solidFill>
                  <a:schemeClr val="tx1"/>
                </a:solidFill>
              </a:rPr>
              <a:t>digunakan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dalam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bentuk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pembuatan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flowmap</a:t>
            </a:r>
            <a:r>
              <a:rPr lang="en-ID" dirty="0">
                <a:solidFill>
                  <a:schemeClr val="tx1"/>
                </a:solidFill>
              </a:rPr>
              <a:t>, Data Flow Diagram (DFD) dan Entity Relationship (ER) Diagram. </a:t>
            </a:r>
          </a:p>
          <a:p>
            <a:pPr marL="0" indent="0">
              <a:buNone/>
            </a:pPr>
            <a:r>
              <a:rPr lang="en-ID" dirty="0">
                <a:solidFill>
                  <a:schemeClr val="tx1"/>
                </a:solidFill>
              </a:rPr>
              <a:t>3.  </a:t>
            </a:r>
            <a:r>
              <a:rPr lang="en-ID" dirty="0" err="1">
                <a:solidFill>
                  <a:schemeClr val="tx1"/>
                </a:solidFill>
              </a:rPr>
              <a:t>Penulisan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Kode</a:t>
            </a:r>
            <a:r>
              <a:rPr lang="en-ID" dirty="0">
                <a:solidFill>
                  <a:schemeClr val="tx1"/>
                </a:solidFill>
              </a:rPr>
              <a:t> Program </a:t>
            </a:r>
          </a:p>
          <a:p>
            <a:r>
              <a:rPr lang="en-ID" dirty="0">
                <a:solidFill>
                  <a:schemeClr val="tx1"/>
                </a:solidFill>
              </a:rPr>
              <a:t>Pada </a:t>
            </a:r>
            <a:r>
              <a:rPr lang="en-ID" dirty="0" err="1">
                <a:solidFill>
                  <a:schemeClr val="tx1"/>
                </a:solidFill>
              </a:rPr>
              <a:t>tahap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ini</a:t>
            </a:r>
            <a:r>
              <a:rPr lang="en-ID" dirty="0">
                <a:solidFill>
                  <a:schemeClr val="tx1"/>
                </a:solidFill>
              </a:rPr>
              <a:t> coding </a:t>
            </a:r>
            <a:r>
              <a:rPr lang="en-ID" dirty="0" err="1">
                <a:solidFill>
                  <a:schemeClr val="tx1"/>
                </a:solidFill>
              </a:rPr>
              <a:t>merupakan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penerjemahan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desain</a:t>
            </a:r>
            <a:r>
              <a:rPr lang="en-ID" dirty="0">
                <a:solidFill>
                  <a:schemeClr val="tx1"/>
                </a:solidFill>
              </a:rPr>
              <a:t>  </a:t>
            </a:r>
            <a:r>
              <a:rPr lang="en-ID" dirty="0" err="1">
                <a:solidFill>
                  <a:schemeClr val="tx1"/>
                </a:solidFill>
              </a:rPr>
              <a:t>dalam</a:t>
            </a:r>
            <a:r>
              <a:rPr lang="en-ID" dirty="0">
                <a:solidFill>
                  <a:schemeClr val="tx1"/>
                </a:solidFill>
              </a:rPr>
              <a:t>  </a:t>
            </a:r>
            <a:r>
              <a:rPr lang="en-ID" dirty="0" err="1">
                <a:solidFill>
                  <a:schemeClr val="tx1"/>
                </a:solidFill>
              </a:rPr>
              <a:t>bahasa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pemrograman</a:t>
            </a:r>
            <a:r>
              <a:rPr lang="en-ID" dirty="0">
                <a:solidFill>
                  <a:schemeClr val="tx1"/>
                </a:solidFill>
              </a:rPr>
              <a:t>  yang  </a:t>
            </a:r>
            <a:r>
              <a:rPr lang="en-ID" dirty="0" err="1">
                <a:solidFill>
                  <a:schemeClr val="tx1"/>
                </a:solidFill>
              </a:rPr>
              <a:t>dapat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dikenali</a:t>
            </a:r>
            <a:r>
              <a:rPr lang="en-ID" dirty="0">
                <a:solidFill>
                  <a:schemeClr val="tx1"/>
                </a:solidFill>
              </a:rPr>
              <a:t> oleh </a:t>
            </a:r>
            <a:r>
              <a:rPr lang="en-ID" dirty="0" err="1">
                <a:solidFill>
                  <a:schemeClr val="tx1"/>
                </a:solidFill>
              </a:rPr>
              <a:t>komputer</a:t>
            </a:r>
            <a:r>
              <a:rPr lang="en-ID" dirty="0">
                <a:solidFill>
                  <a:schemeClr val="tx1"/>
                </a:solidFill>
              </a:rPr>
              <a:t>, </a:t>
            </a:r>
            <a:r>
              <a:rPr lang="en-ID" dirty="0" err="1">
                <a:solidFill>
                  <a:schemeClr val="tx1"/>
                </a:solidFill>
              </a:rPr>
              <a:t>dengan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menggunakan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bahasa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pemrograman</a:t>
            </a:r>
            <a:r>
              <a:rPr lang="en-ID" dirty="0">
                <a:solidFill>
                  <a:schemeClr val="tx1"/>
                </a:solidFill>
              </a:rPr>
              <a:t> Hyper Text </a:t>
            </a:r>
            <a:r>
              <a:rPr lang="en-ID" dirty="0" err="1">
                <a:solidFill>
                  <a:schemeClr val="tx1"/>
                </a:solidFill>
              </a:rPr>
              <a:t>Markup</a:t>
            </a:r>
            <a:r>
              <a:rPr lang="en-ID" dirty="0">
                <a:solidFill>
                  <a:schemeClr val="tx1"/>
                </a:solidFill>
              </a:rPr>
              <a:t> Language (HTML), Hypertext </a:t>
            </a:r>
            <a:r>
              <a:rPr lang="en-ID" dirty="0" err="1">
                <a:solidFill>
                  <a:schemeClr val="tx1"/>
                </a:solidFill>
              </a:rPr>
              <a:t>Preprocessor</a:t>
            </a:r>
            <a:r>
              <a:rPr lang="en-ID" dirty="0">
                <a:solidFill>
                  <a:schemeClr val="tx1"/>
                </a:solidFill>
              </a:rPr>
              <a:t> (PHP), JavaScript, Cascading Style Sheet (CSS) dan MySQL. Pada </a:t>
            </a:r>
            <a:r>
              <a:rPr lang="en-ID" dirty="0" err="1">
                <a:solidFill>
                  <a:schemeClr val="tx1"/>
                </a:solidFill>
              </a:rPr>
              <a:t>tahap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ini</a:t>
            </a:r>
            <a:r>
              <a:rPr lang="en-ID" dirty="0">
                <a:solidFill>
                  <a:schemeClr val="tx1"/>
                </a:solidFill>
              </a:rPr>
              <a:t> juga </a:t>
            </a:r>
            <a:r>
              <a:rPr lang="en-ID" dirty="0" err="1">
                <a:solidFill>
                  <a:schemeClr val="tx1"/>
                </a:solidFill>
              </a:rPr>
              <a:t>dilakukan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pengujian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untuk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tiap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unitnya</a:t>
            </a:r>
            <a:r>
              <a:rPr lang="en-ID" dirty="0">
                <a:solidFill>
                  <a:schemeClr val="tx1"/>
                </a:solidFill>
              </a:rPr>
              <a:t>. </a:t>
            </a:r>
          </a:p>
          <a:p>
            <a:pPr marL="0" indent="0">
              <a:buNone/>
            </a:pPr>
            <a:r>
              <a:rPr lang="en-ID" dirty="0">
                <a:solidFill>
                  <a:schemeClr val="tx1"/>
                </a:solidFill>
              </a:rPr>
              <a:t>4.  </a:t>
            </a:r>
            <a:r>
              <a:rPr lang="en-ID" dirty="0" err="1">
                <a:solidFill>
                  <a:schemeClr val="tx1"/>
                </a:solidFill>
              </a:rPr>
              <a:t>Pengujian</a:t>
            </a:r>
            <a:r>
              <a:rPr lang="en-ID" dirty="0">
                <a:solidFill>
                  <a:schemeClr val="tx1"/>
                </a:solidFill>
              </a:rPr>
              <a:t> Program </a:t>
            </a:r>
          </a:p>
          <a:p>
            <a:r>
              <a:rPr lang="en-ID" dirty="0">
                <a:solidFill>
                  <a:schemeClr val="tx1"/>
                </a:solidFill>
              </a:rPr>
              <a:t>Pada </a:t>
            </a:r>
            <a:r>
              <a:rPr lang="en-ID" dirty="0" err="1">
                <a:solidFill>
                  <a:schemeClr val="tx1"/>
                </a:solidFill>
              </a:rPr>
              <a:t>tahap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ini</a:t>
            </a:r>
            <a:r>
              <a:rPr lang="en-ID" dirty="0">
                <a:solidFill>
                  <a:schemeClr val="tx1"/>
                </a:solidFill>
              </a:rPr>
              <a:t> integration and system testing </a:t>
            </a:r>
            <a:r>
              <a:rPr lang="en-ID" dirty="0" err="1">
                <a:solidFill>
                  <a:schemeClr val="tx1"/>
                </a:solidFill>
              </a:rPr>
              <a:t>merupakan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tahap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pengujian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terhadap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perangkat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lunak</a:t>
            </a:r>
            <a:r>
              <a:rPr lang="en-ID" dirty="0">
                <a:solidFill>
                  <a:schemeClr val="tx1"/>
                </a:solidFill>
              </a:rPr>
              <a:t> yang </a:t>
            </a:r>
            <a:r>
              <a:rPr lang="en-ID" dirty="0" err="1">
                <a:solidFill>
                  <a:schemeClr val="tx1"/>
                </a:solidFill>
              </a:rPr>
              <a:t>dibangun</a:t>
            </a:r>
            <a:r>
              <a:rPr lang="en-ID" dirty="0">
                <a:solidFill>
                  <a:schemeClr val="tx1"/>
                </a:solidFill>
              </a:rPr>
              <a:t>. </a:t>
            </a:r>
            <a:r>
              <a:rPr lang="en-ID" dirty="0" err="1">
                <a:solidFill>
                  <a:schemeClr val="tx1"/>
                </a:solidFill>
              </a:rPr>
              <a:t>Pengujian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sistem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ini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menggunakan</a:t>
            </a:r>
            <a:r>
              <a:rPr lang="en-ID" dirty="0">
                <a:solidFill>
                  <a:schemeClr val="tx1"/>
                </a:solidFill>
              </a:rPr>
              <a:t> black box testing. </a:t>
            </a:r>
          </a:p>
          <a:p>
            <a:pPr marL="0" indent="0">
              <a:buNone/>
            </a:pPr>
            <a:r>
              <a:rPr lang="en-ID" dirty="0">
                <a:solidFill>
                  <a:schemeClr val="tx1"/>
                </a:solidFill>
              </a:rPr>
              <a:t>5.  </a:t>
            </a:r>
            <a:r>
              <a:rPr lang="en-ID" dirty="0" err="1">
                <a:solidFill>
                  <a:schemeClr val="tx1"/>
                </a:solidFill>
              </a:rPr>
              <a:t>Penerapan</a:t>
            </a:r>
            <a:r>
              <a:rPr lang="en-ID" dirty="0">
                <a:solidFill>
                  <a:schemeClr val="tx1"/>
                </a:solidFill>
              </a:rPr>
              <a:t> Program </a:t>
            </a:r>
          </a:p>
          <a:p>
            <a:r>
              <a:rPr lang="en-ID" dirty="0">
                <a:solidFill>
                  <a:schemeClr val="tx1"/>
                </a:solidFill>
              </a:rPr>
              <a:t>Pada </a:t>
            </a:r>
            <a:r>
              <a:rPr lang="en-ID" dirty="0" err="1">
                <a:solidFill>
                  <a:schemeClr val="tx1"/>
                </a:solidFill>
              </a:rPr>
              <a:t>tahap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ini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merupakan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tahap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akhir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dimana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suatu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sistem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informasi</a:t>
            </a:r>
            <a:r>
              <a:rPr lang="en-ID" dirty="0">
                <a:solidFill>
                  <a:schemeClr val="tx1"/>
                </a:solidFill>
              </a:rPr>
              <a:t> yang </a:t>
            </a:r>
            <a:r>
              <a:rPr lang="en-ID" dirty="0" err="1">
                <a:solidFill>
                  <a:schemeClr val="tx1"/>
                </a:solidFill>
              </a:rPr>
              <a:t>sudah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selesai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dapat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dioperasikan</a:t>
            </a:r>
            <a:r>
              <a:rPr lang="en-ID" dirty="0">
                <a:solidFill>
                  <a:schemeClr val="tx1"/>
                </a:solidFill>
              </a:rPr>
              <a:t> dan </a:t>
            </a:r>
            <a:r>
              <a:rPr lang="en-ID" dirty="0" err="1">
                <a:solidFill>
                  <a:schemeClr val="tx1"/>
                </a:solidFill>
              </a:rPr>
              <a:t>dilakukan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pemeliharaan</a:t>
            </a:r>
            <a:r>
              <a:rPr lang="en-ID" dirty="0">
                <a:solidFill>
                  <a:schemeClr val="tx1"/>
                </a:solidFill>
              </a:rPr>
              <a:t>.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81574788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47A1F3C0-60FC-417D-A977-5B7F687CD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4834" y="2418521"/>
            <a:ext cx="3092115" cy="1196671"/>
          </a:xfrm>
        </p:spPr>
        <p:txBody>
          <a:bodyPr>
            <a:normAutofit/>
          </a:bodyPr>
          <a:lstStyle/>
          <a:p>
            <a:pPr algn="ctr"/>
            <a:r>
              <a:rPr lang="en-ID" sz="3600" dirty="0" err="1"/>
              <a:t>Alat</a:t>
            </a:r>
            <a:r>
              <a:rPr lang="en-ID" sz="3600" dirty="0"/>
              <a:t> dan </a:t>
            </a:r>
            <a:r>
              <a:rPr lang="en-ID" sz="3600" dirty="0" err="1"/>
              <a:t>bahan</a:t>
            </a:r>
            <a:endParaRPr lang="en-ID" sz="36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xmlns="" id="{4E4CBE49-0455-4CB1-B9E4-11DAA2657A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051" y="1444162"/>
            <a:ext cx="6158418" cy="3969675"/>
          </a:xfrm>
        </p:spPr>
        <p:txBody>
          <a:bodyPr/>
          <a:lstStyle/>
          <a:p>
            <a:pPr marL="0" indent="0">
              <a:buNone/>
            </a:pPr>
            <a:r>
              <a:rPr lang="en-ID" b="1" dirty="0"/>
              <a:t>Software yang </a:t>
            </a:r>
            <a:r>
              <a:rPr lang="en-ID" b="1" dirty="0" err="1"/>
              <a:t>digunakan</a:t>
            </a:r>
            <a:endParaRPr lang="en-ID" dirty="0"/>
          </a:p>
          <a:p>
            <a:pPr lvl="0"/>
            <a:r>
              <a:rPr lang="en-ID" dirty="0"/>
              <a:t>Sublime Text (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koding</a:t>
            </a:r>
            <a:r>
              <a:rPr lang="en-ID" dirty="0"/>
              <a:t> dan </a:t>
            </a:r>
            <a:r>
              <a:rPr lang="en-ID" dirty="0" err="1"/>
              <a:t>desain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website)</a:t>
            </a:r>
          </a:p>
          <a:p>
            <a:pPr marL="0" indent="0">
              <a:buNone/>
            </a:pPr>
            <a:r>
              <a:rPr lang="en-ID" b="1" dirty="0"/>
              <a:t>Hardware yang </a:t>
            </a:r>
            <a:r>
              <a:rPr lang="en-ID" b="1" dirty="0" err="1"/>
              <a:t>digunakan</a:t>
            </a:r>
            <a:endParaRPr lang="en-ID" dirty="0"/>
          </a:p>
          <a:p>
            <a:pPr lvl="0"/>
            <a:r>
              <a:rPr lang="en-ID" dirty="0"/>
              <a:t>Laptop (LENOVO </a:t>
            </a:r>
            <a:r>
              <a:rPr lang="en-ID" dirty="0" err="1"/>
              <a:t>ideapad</a:t>
            </a:r>
            <a:r>
              <a:rPr lang="en-ID" dirty="0"/>
              <a:t> 320)</a:t>
            </a:r>
          </a:p>
          <a:p>
            <a:pPr lvl="0"/>
            <a:r>
              <a:rPr lang="en-ID" dirty="0"/>
              <a:t>Mouse (Logitech Mouse B100)</a:t>
            </a:r>
          </a:p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361393606"/>
      </p:ext>
    </p:ext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BA5CBAA-23CF-4514-A131-941063E33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0405" y="2232329"/>
            <a:ext cx="3092115" cy="1196671"/>
          </a:xfrm>
        </p:spPr>
        <p:txBody>
          <a:bodyPr>
            <a:normAutofit/>
          </a:bodyPr>
          <a:lstStyle/>
          <a:p>
            <a:pPr algn="ctr"/>
            <a:r>
              <a:rPr lang="en-ID" sz="3600" dirty="0" err="1"/>
              <a:t>Analisis</a:t>
            </a:r>
            <a:r>
              <a:rPr lang="en-ID" sz="3600" dirty="0"/>
              <a:t> </a:t>
            </a:r>
            <a:r>
              <a:rPr lang="en-ID" sz="3600" dirty="0" err="1"/>
              <a:t>sistem</a:t>
            </a:r>
            <a:endParaRPr lang="en-ID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599A7B68-5CE1-4059-8992-E38DEBDB3E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8303" y="1159240"/>
            <a:ext cx="6158418" cy="4539519"/>
          </a:xfrm>
        </p:spPr>
        <p:txBody>
          <a:bodyPr/>
          <a:lstStyle/>
          <a:p>
            <a:r>
              <a:rPr lang="en-ID" dirty="0" err="1">
                <a:solidFill>
                  <a:schemeClr val="tx1"/>
                </a:solidFill>
              </a:rPr>
              <a:t>Sistem</a:t>
            </a:r>
            <a:r>
              <a:rPr lang="en-ID" dirty="0">
                <a:solidFill>
                  <a:schemeClr val="tx1"/>
                </a:solidFill>
              </a:rPr>
              <a:t> yang </a:t>
            </a:r>
            <a:r>
              <a:rPr lang="en-ID" dirty="0" err="1">
                <a:solidFill>
                  <a:schemeClr val="tx1"/>
                </a:solidFill>
              </a:rPr>
              <a:t>dapat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menginput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absensi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mahasiswa</a:t>
            </a:r>
            <a:r>
              <a:rPr lang="en-ID" dirty="0">
                <a:solidFill>
                  <a:schemeClr val="tx1"/>
                </a:solidFill>
              </a:rPr>
              <a:t>  </a:t>
            </a:r>
            <a:r>
              <a:rPr lang="en-ID" dirty="0" err="1">
                <a:solidFill>
                  <a:schemeClr val="tx1"/>
                </a:solidFill>
              </a:rPr>
              <a:t>serta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dapat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dilihat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kapan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saja</a:t>
            </a:r>
            <a:r>
              <a:rPr lang="en-ID" dirty="0">
                <a:solidFill>
                  <a:schemeClr val="tx1"/>
                </a:solidFill>
              </a:rPr>
              <a:t> oleh admin, dan user(</a:t>
            </a:r>
            <a:r>
              <a:rPr lang="en-ID" dirty="0" err="1">
                <a:solidFill>
                  <a:schemeClr val="tx1"/>
                </a:solidFill>
              </a:rPr>
              <a:t>dosen</a:t>
            </a:r>
            <a:r>
              <a:rPr lang="en-ID" dirty="0">
                <a:solidFill>
                  <a:schemeClr val="tx1"/>
                </a:solidFill>
              </a:rPr>
              <a:t>). </a:t>
            </a:r>
            <a:r>
              <a:rPr lang="en-ID" dirty="0" err="1">
                <a:solidFill>
                  <a:schemeClr val="tx1"/>
                </a:solidFill>
              </a:rPr>
              <a:t>Melakukan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pencatatan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grafik</a:t>
            </a:r>
            <a:r>
              <a:rPr lang="en-ID" dirty="0">
                <a:solidFill>
                  <a:schemeClr val="tx1"/>
                </a:solidFill>
              </a:rPr>
              <a:t> data </a:t>
            </a:r>
            <a:r>
              <a:rPr lang="en-ID" dirty="0" err="1">
                <a:solidFill>
                  <a:schemeClr val="tx1"/>
                </a:solidFill>
              </a:rPr>
              <a:t>mahasiswa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sistem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informasi</a:t>
            </a:r>
            <a:r>
              <a:rPr lang="en-ID" dirty="0">
                <a:solidFill>
                  <a:schemeClr val="tx1"/>
                </a:solidFill>
              </a:rPr>
              <a:t>, </a:t>
            </a:r>
            <a:r>
              <a:rPr lang="en-ID" dirty="0" err="1">
                <a:solidFill>
                  <a:schemeClr val="tx1"/>
                </a:solidFill>
              </a:rPr>
              <a:t>dengan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bagian</a:t>
            </a:r>
            <a:r>
              <a:rPr lang="en-ID" dirty="0">
                <a:solidFill>
                  <a:schemeClr val="tx1"/>
                </a:solidFill>
              </a:rPr>
              <a:t> admin, dan user </a:t>
            </a:r>
            <a:r>
              <a:rPr lang="en-ID" dirty="0" err="1">
                <a:solidFill>
                  <a:schemeClr val="tx1"/>
                </a:solidFill>
              </a:rPr>
              <a:t>sebagai</a:t>
            </a:r>
            <a:r>
              <a:rPr lang="en-ID" dirty="0">
                <a:solidFill>
                  <a:schemeClr val="tx1"/>
                </a:solidFill>
              </a:rPr>
              <a:t>  </a:t>
            </a:r>
            <a:r>
              <a:rPr lang="en-ID" dirty="0" err="1">
                <a:solidFill>
                  <a:schemeClr val="tx1"/>
                </a:solidFill>
              </a:rPr>
              <a:t>peng</a:t>
            </a:r>
            <a:r>
              <a:rPr lang="en-ID" dirty="0">
                <a:solidFill>
                  <a:schemeClr val="tx1"/>
                </a:solidFill>
              </a:rPr>
              <a:t>-update </a:t>
            </a:r>
            <a:r>
              <a:rPr lang="en-ID" dirty="0" err="1">
                <a:solidFill>
                  <a:schemeClr val="tx1"/>
                </a:solidFill>
              </a:rPr>
              <a:t>absensi</a:t>
            </a:r>
            <a:r>
              <a:rPr lang="en-ID" dirty="0">
                <a:solidFill>
                  <a:schemeClr val="tx1"/>
                </a:solidFill>
              </a:rPr>
              <a:t> </a:t>
            </a:r>
            <a:r>
              <a:rPr lang="en-ID" dirty="0" err="1">
                <a:solidFill>
                  <a:schemeClr val="tx1"/>
                </a:solidFill>
              </a:rPr>
              <a:t>secara</a:t>
            </a:r>
            <a:r>
              <a:rPr lang="en-ID" dirty="0">
                <a:solidFill>
                  <a:schemeClr val="tx1"/>
                </a:solidFill>
              </a:rPr>
              <a:t> real-time. </a:t>
            </a:r>
          </a:p>
        </p:txBody>
      </p:sp>
    </p:spTree>
    <p:extLst>
      <p:ext uri="{BB962C8B-B14F-4D97-AF65-F5344CB8AC3E}">
        <p14:creationId xmlns:p14="http://schemas.microsoft.com/office/powerpoint/2010/main" val="10774675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xmlns="" id="{1B86E862-FB6A-4A8B-8304-DC2072385E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4133738"/>
              </p:ext>
            </p:extLst>
          </p:nvPr>
        </p:nvGraphicFramePr>
        <p:xfrm>
          <a:off x="3448482" y="0"/>
          <a:ext cx="5633469" cy="684851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91475">
                  <a:extLst>
                    <a:ext uri="{9D8B030D-6E8A-4147-A177-3AD203B41FA5}">
                      <a16:colId xmlns:a16="http://schemas.microsoft.com/office/drawing/2014/main" xmlns="" val="3898356308"/>
                    </a:ext>
                  </a:extLst>
                </a:gridCol>
                <a:gridCol w="2741994">
                  <a:extLst>
                    <a:ext uri="{9D8B030D-6E8A-4147-A177-3AD203B41FA5}">
                      <a16:colId xmlns:a16="http://schemas.microsoft.com/office/drawing/2014/main" xmlns="" val="4146882078"/>
                    </a:ext>
                  </a:extLst>
                </a:gridCol>
              </a:tblGrid>
              <a:tr h="306926"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r>
                        <a:rPr lang="en-ID" sz="1800" dirty="0">
                          <a:effectLst/>
                        </a:rPr>
                        <a:t>User</a:t>
                      </a:r>
                      <a:endParaRPr lang="en-ID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38" marR="29738" marT="0" marB="0"/>
                </a:tc>
                <a:tc>
                  <a:txBody>
                    <a:bodyPr/>
                    <a:lstStyle/>
                    <a:p>
                      <a:pPr marL="457200" algn="ctr">
                        <a:lnSpc>
                          <a:spcPct val="150000"/>
                        </a:lnSpc>
                        <a:spcAft>
                          <a:spcPts val="0"/>
                        </a:spcAft>
                        <a:tabLst>
                          <a:tab pos="1209675" algn="l"/>
                        </a:tabLst>
                      </a:pPr>
                      <a:r>
                        <a:rPr lang="ru-RU" sz="1800" dirty="0" err="1">
                          <a:effectLst/>
                        </a:rPr>
                        <a:t>Admin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endParaRPr lang="en-ID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38" marR="29738" marT="0" marB="0"/>
                </a:tc>
                <a:extLst>
                  <a:ext uri="{0D108BD9-81ED-4DB2-BD59-A6C34878D82A}">
                    <a16:rowId xmlns:a16="http://schemas.microsoft.com/office/drawing/2014/main" xmlns="" val="2930976424"/>
                  </a:ext>
                </a:extLst>
              </a:tr>
              <a:tr h="6437035">
                <a:tc>
                  <a:txBody>
                    <a:bodyPr/>
                    <a:lstStyle/>
                    <a:p>
                      <a:pPr marL="4572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n-ID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38" marR="29738" marT="0" marB="0"/>
                </a:tc>
                <a:tc>
                  <a:txBody>
                    <a:bodyPr/>
                    <a:lstStyle/>
                    <a:p>
                      <a:pPr marL="457200" algn="just">
                        <a:lnSpc>
                          <a:spcPct val="150000"/>
                        </a:lnSpc>
                        <a:spcAft>
                          <a:spcPts val="0"/>
                        </a:spcAft>
                      </a:pPr>
                      <a:endParaRPr lang="en-ID" sz="5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29738" marR="29738" marT="0" marB="0"/>
                </a:tc>
                <a:extLst>
                  <a:ext uri="{0D108BD9-81ED-4DB2-BD59-A6C34878D82A}">
                    <a16:rowId xmlns:a16="http://schemas.microsoft.com/office/drawing/2014/main" xmlns="" val="1647352263"/>
                  </a:ext>
                </a:extLst>
              </a:tr>
            </a:tbl>
          </a:graphicData>
        </a:graphic>
      </p:graphicFrame>
      <p:sp>
        <p:nvSpPr>
          <p:cNvPr id="6" name="Flowchart: Manual Input 5">
            <a:extLst>
              <a:ext uri="{FF2B5EF4-FFF2-40B4-BE49-F238E27FC236}">
                <a16:creationId xmlns:a16="http://schemas.microsoft.com/office/drawing/2014/main" xmlns="" id="{7D2A9DD4-2164-4F1C-9B4D-5FD931CD33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54739" y="2158748"/>
            <a:ext cx="1085850" cy="568325"/>
          </a:xfrm>
          <a:prstGeom prst="flowChartManualInpu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D" sz="10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Input materi ajar perkuliahan</a:t>
            </a:r>
            <a:endParaRPr lang="en-ID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Flowchart: Manual Input 6">
            <a:extLst>
              <a:ext uri="{FF2B5EF4-FFF2-40B4-BE49-F238E27FC236}">
                <a16:creationId xmlns:a16="http://schemas.microsoft.com/office/drawing/2014/main" xmlns="" id="{6460DD58-5B49-4DFF-B1DB-3997FAA2D9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70" y="772695"/>
            <a:ext cx="1009650" cy="361950"/>
          </a:xfrm>
          <a:prstGeom prst="flowChartManualInpu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D" sz="10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input login</a:t>
            </a:r>
            <a:endParaRPr lang="en-ID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D160E6FF-ACA2-497A-B15B-49DBE7395E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8720" y="6517445"/>
            <a:ext cx="876300" cy="25717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D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lang="ru-RU" sz="110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inish</a:t>
            </a:r>
            <a:endParaRPr lang="en-ID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xmlns="" id="{24000A33-0503-4D42-9932-56205DE7EE6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916557" y="1634571"/>
            <a:ext cx="14288" cy="179593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xmlns="" id="{D017F33E-E266-42B7-ABA2-0B12D6B770C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886395" y="3471032"/>
            <a:ext cx="3175" cy="204618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xmlns="" id="{46369542-35E8-47FA-91AF-1BCA7637DD3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790934" y="3961233"/>
            <a:ext cx="0" cy="309563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xmlns="" id="{A3784292-A872-41D3-B74B-79E1359157C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846707" y="6305759"/>
            <a:ext cx="6350" cy="117368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xmlns="" id="{28647937-8562-4362-B079-371D99CE486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820993" y="3203657"/>
            <a:ext cx="0" cy="24765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xmlns="" id="{163D45D5-8A86-4531-994B-7407A49F3A1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905445" y="2957509"/>
            <a:ext cx="0" cy="16809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5" name="Flowchart: Terminator 14">
            <a:extLst>
              <a:ext uri="{FF2B5EF4-FFF2-40B4-BE49-F238E27FC236}">
                <a16:creationId xmlns:a16="http://schemas.microsoft.com/office/drawing/2014/main" xmlns="" id="{05935557-799A-40CB-98E4-DF421A1A2EF2}"/>
              </a:ext>
            </a:extLst>
          </p:cNvPr>
          <p:cNvSpPr/>
          <p:nvPr/>
        </p:nvSpPr>
        <p:spPr>
          <a:xfrm>
            <a:off x="4600645" y="342690"/>
            <a:ext cx="723900" cy="292100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START</a:t>
            </a:r>
            <a:r>
              <a:rPr lang="ru-RU" sz="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D" sz="1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Flowchart: Manual Input 15">
            <a:extLst>
              <a:ext uri="{FF2B5EF4-FFF2-40B4-BE49-F238E27FC236}">
                <a16:creationId xmlns:a16="http://schemas.microsoft.com/office/drawing/2014/main" xmlns="" id="{9DEACE77-690B-46F6-BBE2-5FCA096DED85}"/>
              </a:ext>
            </a:extLst>
          </p:cNvPr>
          <p:cNvSpPr/>
          <p:nvPr/>
        </p:nvSpPr>
        <p:spPr>
          <a:xfrm>
            <a:off x="7100407" y="3474938"/>
            <a:ext cx="1376362" cy="482600"/>
          </a:xfrm>
          <a:prstGeom prst="flowChartManualIn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D" sz="10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Input data mahasiswa</a:t>
            </a:r>
            <a:endParaRPr lang="en-ID" sz="11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7" name="Flowchart: Process 16">
            <a:extLst>
              <a:ext uri="{FF2B5EF4-FFF2-40B4-BE49-F238E27FC236}">
                <a16:creationId xmlns:a16="http://schemas.microsoft.com/office/drawing/2014/main" xmlns="" id="{520AEB96-F4DC-4A3A-AA2F-B3AA4CC123E8}"/>
              </a:ext>
            </a:extLst>
          </p:cNvPr>
          <p:cNvSpPr/>
          <p:nvPr/>
        </p:nvSpPr>
        <p:spPr>
          <a:xfrm>
            <a:off x="4527620" y="1347233"/>
            <a:ext cx="809625" cy="284163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D" sz="11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login</a:t>
            </a:r>
          </a:p>
        </p:txBody>
      </p:sp>
      <p:sp>
        <p:nvSpPr>
          <p:cNvPr id="18" name="Flowchart: Decision 17">
            <a:extLst>
              <a:ext uri="{FF2B5EF4-FFF2-40B4-BE49-F238E27FC236}">
                <a16:creationId xmlns:a16="http://schemas.microsoft.com/office/drawing/2014/main" xmlns="" id="{03307F50-D0E0-4BA2-88A3-26499987B3D6}"/>
              </a:ext>
            </a:extLst>
          </p:cNvPr>
          <p:cNvSpPr/>
          <p:nvPr/>
        </p:nvSpPr>
        <p:spPr>
          <a:xfrm>
            <a:off x="4378395" y="1858719"/>
            <a:ext cx="1133475" cy="492125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D" sz="7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VALIDASI</a:t>
            </a:r>
            <a:endParaRPr lang="en-ID" sz="11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xmlns="" id="{DBDEBCFE-881C-4C5C-94F4-1BFF1BB9D2DD}"/>
              </a:ext>
            </a:extLst>
          </p:cNvPr>
          <p:cNvCxnSpPr>
            <a:cxnSpLocks/>
            <a:endCxn id="7" idx="1"/>
          </p:cNvCxnSpPr>
          <p:nvPr/>
        </p:nvCxnSpPr>
        <p:spPr>
          <a:xfrm rot="16200000" flipV="1">
            <a:off x="3867357" y="1505983"/>
            <a:ext cx="1133202" cy="28576"/>
          </a:xfrm>
          <a:prstGeom prst="bentConnector4">
            <a:avLst>
              <a:gd name="adj1" fmla="val -85"/>
              <a:gd name="adj2" fmla="val 899972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Text Box 2">
            <a:extLst>
              <a:ext uri="{FF2B5EF4-FFF2-40B4-BE49-F238E27FC236}">
                <a16:creationId xmlns:a16="http://schemas.microsoft.com/office/drawing/2014/main" xmlns="" id="{E8472668-6C0F-4A56-8991-06A1BFBC37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6245" y="1320109"/>
            <a:ext cx="414337" cy="23336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D" sz="9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NO</a:t>
            </a:r>
            <a:endParaRPr lang="en-ID" sz="11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1" name="Flowchart: Manual Input 20">
            <a:extLst>
              <a:ext uri="{FF2B5EF4-FFF2-40B4-BE49-F238E27FC236}">
                <a16:creationId xmlns:a16="http://schemas.microsoft.com/office/drawing/2014/main" xmlns="" id="{2FBF616E-751C-4932-AF62-997E355046B2}"/>
              </a:ext>
            </a:extLst>
          </p:cNvPr>
          <p:cNvSpPr/>
          <p:nvPr/>
        </p:nvSpPr>
        <p:spPr>
          <a:xfrm>
            <a:off x="4423570" y="2397399"/>
            <a:ext cx="938212" cy="542925"/>
          </a:xfrm>
          <a:prstGeom prst="flowChartManualIn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D" sz="9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Absensi</a:t>
            </a:r>
            <a:r>
              <a:rPr lang="en-ID" sz="9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ID" sz="900" dirty="0" err="1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mahasiswa</a:t>
            </a:r>
            <a:endParaRPr lang="en-ID" sz="1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xmlns="" id="{937B9D0E-D80F-4629-9CF4-9E666D08682C}"/>
              </a:ext>
            </a:extLst>
          </p:cNvPr>
          <p:cNvCxnSpPr>
            <a:cxnSpLocks/>
          </p:cNvCxnSpPr>
          <p:nvPr/>
        </p:nvCxnSpPr>
        <p:spPr>
          <a:xfrm rot="5400000">
            <a:off x="5175302" y="2346686"/>
            <a:ext cx="575987" cy="9714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Flowchart: Magnetic Disk 22">
            <a:extLst>
              <a:ext uri="{FF2B5EF4-FFF2-40B4-BE49-F238E27FC236}">
                <a16:creationId xmlns:a16="http://schemas.microsoft.com/office/drawing/2014/main" xmlns="" id="{21150A37-9255-4B66-B523-048D0F0A6F9B}"/>
              </a:ext>
            </a:extLst>
          </p:cNvPr>
          <p:cNvSpPr/>
          <p:nvPr/>
        </p:nvSpPr>
        <p:spPr>
          <a:xfrm>
            <a:off x="7413609" y="6022281"/>
            <a:ext cx="1071562" cy="725488"/>
          </a:xfrm>
          <a:prstGeom prst="flowChartMagneticDisk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D" sz="11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database</a:t>
            </a:r>
          </a:p>
        </p:txBody>
      </p:sp>
      <p:sp>
        <p:nvSpPr>
          <p:cNvPr id="24" name="Flowchart: Process 23">
            <a:extLst>
              <a:ext uri="{FF2B5EF4-FFF2-40B4-BE49-F238E27FC236}">
                <a16:creationId xmlns:a16="http://schemas.microsoft.com/office/drawing/2014/main" xmlns="" id="{281A20ED-C643-4193-A50E-1338A9A03E55}"/>
              </a:ext>
            </a:extLst>
          </p:cNvPr>
          <p:cNvSpPr/>
          <p:nvPr/>
        </p:nvSpPr>
        <p:spPr>
          <a:xfrm>
            <a:off x="4529207" y="3207512"/>
            <a:ext cx="758825" cy="284163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D" sz="11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simpan</a:t>
            </a:r>
          </a:p>
        </p:txBody>
      </p:sp>
      <p:sp>
        <p:nvSpPr>
          <p:cNvPr id="25" name="Flowchart: Decision 24">
            <a:extLst>
              <a:ext uri="{FF2B5EF4-FFF2-40B4-BE49-F238E27FC236}">
                <a16:creationId xmlns:a16="http://schemas.microsoft.com/office/drawing/2014/main" xmlns="" id="{64689AA2-DDBD-4CCA-B6FC-E885DC89091D}"/>
              </a:ext>
            </a:extLst>
          </p:cNvPr>
          <p:cNvSpPr/>
          <p:nvPr/>
        </p:nvSpPr>
        <p:spPr>
          <a:xfrm>
            <a:off x="4238695" y="3712196"/>
            <a:ext cx="1301750" cy="585788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D" sz="10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logout</a:t>
            </a:r>
            <a:endParaRPr lang="en-ID" sz="11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6" name="Flowchart: Manual Input 25">
            <a:extLst>
              <a:ext uri="{FF2B5EF4-FFF2-40B4-BE49-F238E27FC236}">
                <a16:creationId xmlns:a16="http://schemas.microsoft.com/office/drawing/2014/main" xmlns="" id="{F3E3BBC6-02FF-437A-BA40-23431F31A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70566" y="374483"/>
            <a:ext cx="923925" cy="388937"/>
          </a:xfrm>
          <a:prstGeom prst="flowChartManualInpu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D" sz="110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input login</a:t>
            </a:r>
            <a:endParaRPr lang="en-ID" sz="110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7" name="Flowchart: Process 26">
            <a:extLst>
              <a:ext uri="{FF2B5EF4-FFF2-40B4-BE49-F238E27FC236}">
                <a16:creationId xmlns:a16="http://schemas.microsoft.com/office/drawing/2014/main" xmlns="" id="{5624F162-F93D-4C54-BC41-35C4E553D448}"/>
              </a:ext>
            </a:extLst>
          </p:cNvPr>
          <p:cNvSpPr/>
          <p:nvPr/>
        </p:nvSpPr>
        <p:spPr>
          <a:xfrm>
            <a:off x="7397820" y="1003323"/>
            <a:ext cx="809625" cy="284163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D" sz="1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login</a:t>
            </a:r>
          </a:p>
        </p:txBody>
      </p:sp>
      <p:sp>
        <p:nvSpPr>
          <p:cNvPr id="28" name="Flowchart: Decision 27">
            <a:extLst>
              <a:ext uri="{FF2B5EF4-FFF2-40B4-BE49-F238E27FC236}">
                <a16:creationId xmlns:a16="http://schemas.microsoft.com/office/drawing/2014/main" xmlns="" id="{6B5A4C9D-8FB1-4132-98CC-8940481588CC}"/>
              </a:ext>
            </a:extLst>
          </p:cNvPr>
          <p:cNvSpPr/>
          <p:nvPr/>
        </p:nvSpPr>
        <p:spPr>
          <a:xfrm>
            <a:off x="7273307" y="1437901"/>
            <a:ext cx="1130300" cy="492125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D" sz="7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VALIDASI</a:t>
            </a:r>
            <a:endParaRPr lang="en-ID" sz="11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9" name="Flowchart: Process 28">
            <a:extLst>
              <a:ext uri="{FF2B5EF4-FFF2-40B4-BE49-F238E27FC236}">
                <a16:creationId xmlns:a16="http://schemas.microsoft.com/office/drawing/2014/main" xmlns="" id="{64BE18E0-4167-4360-B0C8-1C8C6943BAD4}"/>
              </a:ext>
            </a:extLst>
          </p:cNvPr>
          <p:cNvSpPr/>
          <p:nvPr/>
        </p:nvSpPr>
        <p:spPr>
          <a:xfrm>
            <a:off x="7441580" y="2970484"/>
            <a:ext cx="758825" cy="284162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D" sz="11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simpan</a:t>
            </a:r>
          </a:p>
        </p:txBody>
      </p: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xmlns="" id="{C02E40AE-BF37-4604-886D-C06BD1432C65}"/>
              </a:ext>
            </a:extLst>
          </p:cNvPr>
          <p:cNvCxnSpPr>
            <a:cxnSpLocks/>
            <a:stCxn id="25" idx="1"/>
          </p:cNvCxnSpPr>
          <p:nvPr/>
        </p:nvCxnSpPr>
        <p:spPr>
          <a:xfrm rot="10800000" flipV="1">
            <a:off x="4238695" y="4005090"/>
            <a:ext cx="12700" cy="2105442"/>
          </a:xfrm>
          <a:prstGeom prst="bentConnector4">
            <a:avLst>
              <a:gd name="adj1" fmla="val 4252173"/>
              <a:gd name="adj2" fmla="val 99127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" name="Flowchart: Process 31">
            <a:extLst>
              <a:ext uri="{FF2B5EF4-FFF2-40B4-BE49-F238E27FC236}">
                <a16:creationId xmlns:a16="http://schemas.microsoft.com/office/drawing/2014/main" xmlns="" id="{580FBC9F-380C-459F-B8E3-6CCBA5A44994}"/>
              </a:ext>
            </a:extLst>
          </p:cNvPr>
          <p:cNvSpPr/>
          <p:nvPr/>
        </p:nvSpPr>
        <p:spPr>
          <a:xfrm>
            <a:off x="4445070" y="4387784"/>
            <a:ext cx="922337" cy="517525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D" sz="8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Menerima rekap absensi mahasiswa</a:t>
            </a:r>
            <a:endParaRPr lang="en-ID" sz="11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3" name="Flowchart: Display 32">
            <a:extLst>
              <a:ext uri="{FF2B5EF4-FFF2-40B4-BE49-F238E27FC236}">
                <a16:creationId xmlns:a16="http://schemas.microsoft.com/office/drawing/2014/main" xmlns="" id="{DFD7CCC2-F806-4C78-8A8F-F6F75F009297}"/>
              </a:ext>
            </a:extLst>
          </p:cNvPr>
          <p:cNvSpPr/>
          <p:nvPr/>
        </p:nvSpPr>
        <p:spPr>
          <a:xfrm>
            <a:off x="4394270" y="5204862"/>
            <a:ext cx="965200" cy="550863"/>
          </a:xfrm>
          <a:prstGeom prst="flowChartDisplay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D" sz="11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Rekap absensi</a:t>
            </a:r>
          </a:p>
        </p:txBody>
      </p:sp>
      <p:cxnSp>
        <p:nvCxnSpPr>
          <p:cNvPr id="34" name="Connector: Elbow 33">
            <a:extLst>
              <a:ext uri="{FF2B5EF4-FFF2-40B4-BE49-F238E27FC236}">
                <a16:creationId xmlns:a16="http://schemas.microsoft.com/office/drawing/2014/main" xmlns="" id="{CDF4425A-725D-4817-B3DC-E0176DAA3BFA}"/>
              </a:ext>
            </a:extLst>
          </p:cNvPr>
          <p:cNvCxnSpPr/>
          <p:nvPr/>
        </p:nvCxnSpPr>
        <p:spPr>
          <a:xfrm flipH="1">
            <a:off x="5429320" y="4002123"/>
            <a:ext cx="52387" cy="749300"/>
          </a:xfrm>
          <a:prstGeom prst="bentConnector3">
            <a:avLst>
              <a:gd name="adj1" fmla="val -354749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xmlns="" id="{507CD269-D43A-4262-8B9F-63EFF1313CEA}"/>
              </a:ext>
            </a:extLst>
          </p:cNvPr>
          <p:cNvCxnSpPr/>
          <p:nvPr/>
        </p:nvCxnSpPr>
        <p:spPr>
          <a:xfrm flipH="1" flipV="1">
            <a:off x="7259631" y="626506"/>
            <a:ext cx="46038" cy="1082675"/>
          </a:xfrm>
          <a:prstGeom prst="bentConnector3">
            <a:avLst>
              <a:gd name="adj1" fmla="val 879328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Text Box 2">
            <a:extLst>
              <a:ext uri="{FF2B5EF4-FFF2-40B4-BE49-F238E27FC236}">
                <a16:creationId xmlns:a16="http://schemas.microsoft.com/office/drawing/2014/main" xmlns="" id="{07DB4BE9-8B03-45C3-B325-77C65FD72C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0023" y="1076874"/>
            <a:ext cx="414337" cy="23336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D" sz="9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NO</a:t>
            </a:r>
            <a:endParaRPr lang="en-ID" sz="1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37" name="Connector: Elbow 36">
            <a:extLst>
              <a:ext uri="{FF2B5EF4-FFF2-40B4-BE49-F238E27FC236}">
                <a16:creationId xmlns:a16="http://schemas.microsoft.com/office/drawing/2014/main" xmlns="" id="{5928CCF6-9DE3-416A-B9A0-5415E90EFED1}"/>
              </a:ext>
            </a:extLst>
          </p:cNvPr>
          <p:cNvCxnSpPr/>
          <p:nvPr/>
        </p:nvCxnSpPr>
        <p:spPr>
          <a:xfrm>
            <a:off x="8340589" y="1683963"/>
            <a:ext cx="82550" cy="587375"/>
          </a:xfrm>
          <a:prstGeom prst="bentConnector3">
            <a:avLst>
              <a:gd name="adj1" fmla="val 468439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Flowchart: Process 37">
            <a:extLst>
              <a:ext uri="{FF2B5EF4-FFF2-40B4-BE49-F238E27FC236}">
                <a16:creationId xmlns:a16="http://schemas.microsoft.com/office/drawing/2014/main" xmlns="" id="{3F0F2BFC-D0EF-4089-BAB5-77E5D4313945}"/>
              </a:ext>
            </a:extLst>
          </p:cNvPr>
          <p:cNvSpPr/>
          <p:nvPr/>
        </p:nvSpPr>
        <p:spPr>
          <a:xfrm>
            <a:off x="7383532" y="4373716"/>
            <a:ext cx="758825" cy="284163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D" sz="11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simpan</a:t>
            </a:r>
          </a:p>
        </p:txBody>
      </p: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xmlns="" id="{38472C15-2601-4CA4-9D07-9B3BB257DDB9}"/>
              </a:ext>
            </a:extLst>
          </p:cNvPr>
          <p:cNvCxnSpPr>
            <a:cxnSpLocks/>
          </p:cNvCxnSpPr>
          <p:nvPr/>
        </p:nvCxnSpPr>
        <p:spPr>
          <a:xfrm flipH="1">
            <a:off x="7377809" y="3108476"/>
            <a:ext cx="72000" cy="3312000"/>
          </a:xfrm>
          <a:prstGeom prst="bentConnector3">
            <a:avLst>
              <a:gd name="adj1" fmla="val 1242247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xmlns="" id="{0AF695E2-2E0D-484B-83E6-6326E23B9721}"/>
              </a:ext>
            </a:extLst>
          </p:cNvPr>
          <p:cNvCxnSpPr>
            <a:cxnSpLocks/>
          </p:cNvCxnSpPr>
          <p:nvPr/>
        </p:nvCxnSpPr>
        <p:spPr>
          <a:xfrm rot="10800000">
            <a:off x="5487431" y="4589569"/>
            <a:ext cx="1926179" cy="19080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xmlns="" id="{795E1434-A934-41BA-A39E-33FB44263A5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878457" y="4920151"/>
            <a:ext cx="7938" cy="210856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3" name="Flowchart: Decision 42">
            <a:extLst>
              <a:ext uri="{FF2B5EF4-FFF2-40B4-BE49-F238E27FC236}">
                <a16:creationId xmlns:a16="http://schemas.microsoft.com/office/drawing/2014/main" xmlns="" id="{3D52FAE6-75FE-4554-8DB7-D8A201689F6D}"/>
              </a:ext>
            </a:extLst>
          </p:cNvPr>
          <p:cNvSpPr/>
          <p:nvPr/>
        </p:nvSpPr>
        <p:spPr>
          <a:xfrm>
            <a:off x="7243042" y="4972194"/>
            <a:ext cx="1042988" cy="476250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D" sz="9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logout</a:t>
            </a:r>
            <a:endParaRPr lang="en-ID" sz="11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xmlns="" id="{B9792369-9EDF-4A88-AF00-061745E17A18}"/>
              </a:ext>
            </a:extLst>
          </p:cNvPr>
          <p:cNvSpPr/>
          <p:nvPr/>
        </p:nvSpPr>
        <p:spPr>
          <a:xfrm>
            <a:off x="7361551" y="5630628"/>
            <a:ext cx="854075" cy="2667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D" sz="11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logout</a:t>
            </a:r>
          </a:p>
        </p:txBody>
      </p:sp>
      <p:cxnSp>
        <p:nvCxnSpPr>
          <p:cNvPr id="45" name="Connector: Elbow 44">
            <a:extLst>
              <a:ext uri="{FF2B5EF4-FFF2-40B4-BE49-F238E27FC236}">
                <a16:creationId xmlns:a16="http://schemas.microsoft.com/office/drawing/2014/main" xmlns="" id="{AE2178B0-D58D-4461-8D98-48B667BDEA45}"/>
              </a:ext>
            </a:extLst>
          </p:cNvPr>
          <p:cNvCxnSpPr/>
          <p:nvPr/>
        </p:nvCxnSpPr>
        <p:spPr>
          <a:xfrm>
            <a:off x="7281490" y="5210456"/>
            <a:ext cx="84137" cy="525462"/>
          </a:xfrm>
          <a:prstGeom prst="bentConnector3">
            <a:avLst>
              <a:gd name="adj1" fmla="val -95971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xmlns="" id="{44AAAB9B-696F-407C-90C6-39DD22E76864}"/>
              </a:ext>
            </a:extLst>
          </p:cNvPr>
          <p:cNvCxnSpPr/>
          <p:nvPr/>
        </p:nvCxnSpPr>
        <p:spPr>
          <a:xfrm flipV="1">
            <a:off x="8245369" y="2430365"/>
            <a:ext cx="69850" cy="2774950"/>
          </a:xfrm>
          <a:prstGeom prst="bentConnector3">
            <a:avLst>
              <a:gd name="adj1" fmla="val 52609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xmlns="" id="{E98C41FC-E7AC-4F79-A235-A0FFC270FDD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927670" y="633203"/>
            <a:ext cx="17462" cy="149267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xmlns="" id="{D20B216B-6994-4C1E-ACE1-82F1E718702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926082" y="1152660"/>
            <a:ext cx="6350" cy="157577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xmlns="" id="{EAD50A7F-0B75-4539-BC2B-EED94F30F9C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4853057" y="5768978"/>
            <a:ext cx="0" cy="98492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0" name="Text Box 2">
            <a:extLst>
              <a:ext uri="{FF2B5EF4-FFF2-40B4-BE49-F238E27FC236}">
                <a16:creationId xmlns:a16="http://schemas.microsoft.com/office/drawing/2014/main" xmlns="" id="{9C7B108B-0D81-4B4C-A2A0-40234B52C1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99674" y="1874570"/>
            <a:ext cx="414338" cy="23336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D" sz="9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YES</a:t>
            </a:r>
            <a:endParaRPr lang="en-ID" sz="1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xmlns="" id="{467CC640-D582-4169-ABB0-185D7FADC06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764536" y="4648621"/>
            <a:ext cx="0" cy="261937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2" name="Text Box 2">
            <a:extLst>
              <a:ext uri="{FF2B5EF4-FFF2-40B4-BE49-F238E27FC236}">
                <a16:creationId xmlns:a16="http://schemas.microsoft.com/office/drawing/2014/main" xmlns="" id="{4E8E5323-C25B-40B1-9B2A-120C3061D6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72191" y="3600350"/>
            <a:ext cx="414337" cy="23177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D" sz="9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NO</a:t>
            </a:r>
            <a:endParaRPr lang="en-ID" sz="1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xmlns="" id="{FB63227E-F24A-4CB8-A574-A060BAA46DD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820992" y="1917706"/>
            <a:ext cx="0" cy="217488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xmlns="" id="{EB4A9C9B-B782-4831-9B08-6040D778974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820992" y="2731576"/>
            <a:ext cx="0" cy="19367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6" name="Flowchart: Process 55">
            <a:extLst>
              <a:ext uri="{FF2B5EF4-FFF2-40B4-BE49-F238E27FC236}">
                <a16:creationId xmlns:a16="http://schemas.microsoft.com/office/drawing/2014/main" xmlns="" id="{DD819328-C2A6-45FC-814B-36E7F6AD83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24420" y="5913196"/>
            <a:ext cx="1000125" cy="390525"/>
          </a:xfrm>
          <a:prstGeom prst="flowChartProcess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ID" sz="1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Logout</a:t>
            </a:r>
            <a:endParaRPr lang="en-ID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ru-RU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ID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11" name="Connector: Elbow 110">
            <a:extLst>
              <a:ext uri="{FF2B5EF4-FFF2-40B4-BE49-F238E27FC236}">
                <a16:creationId xmlns:a16="http://schemas.microsoft.com/office/drawing/2014/main" xmlns="" id="{F9F3BD07-B7FE-4974-B380-90FEB40BBA5F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5288032" y="3349594"/>
            <a:ext cx="1908000" cy="32040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7" name="Text Box 2">
            <a:extLst>
              <a:ext uri="{FF2B5EF4-FFF2-40B4-BE49-F238E27FC236}">
                <a16:creationId xmlns:a16="http://schemas.microsoft.com/office/drawing/2014/main" xmlns="" id="{67EF7651-87A3-431A-B8CB-8D2B2EF116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53870" y="4916845"/>
            <a:ext cx="414020" cy="2324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D" sz="9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YES</a:t>
            </a:r>
            <a:endParaRPr lang="en-ID" sz="11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8" name="Text Box 2">
            <a:extLst>
              <a:ext uri="{FF2B5EF4-FFF2-40B4-BE49-F238E27FC236}">
                <a16:creationId xmlns:a16="http://schemas.microsoft.com/office/drawing/2014/main" xmlns="" id="{3451E528-1323-4831-A259-5BC54C7A25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20669" y="4215679"/>
            <a:ext cx="414020" cy="2324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D" sz="9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NO</a:t>
            </a:r>
            <a:endParaRPr lang="en-ID" sz="11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9" name="Text Box 2">
            <a:extLst>
              <a:ext uri="{FF2B5EF4-FFF2-40B4-BE49-F238E27FC236}">
                <a16:creationId xmlns:a16="http://schemas.microsoft.com/office/drawing/2014/main" xmlns="" id="{E002DEBB-4B58-4007-BDAA-E4A3AD49EF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1707" y="2257917"/>
            <a:ext cx="414020" cy="23241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D" sz="9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YES</a:t>
            </a:r>
            <a:endParaRPr lang="en-ID" sz="110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xmlns="" id="{74983D8C-886B-47FC-A8A5-C69615B2BA3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822812" y="1267993"/>
            <a:ext cx="6350" cy="117368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xmlns="" id="{0F12997F-D44B-43A5-B9A7-77500034F47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832712" y="759759"/>
            <a:ext cx="0" cy="19367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3" name="Text Box 2">
            <a:extLst>
              <a:ext uri="{FF2B5EF4-FFF2-40B4-BE49-F238E27FC236}">
                <a16:creationId xmlns:a16="http://schemas.microsoft.com/office/drawing/2014/main" xmlns="" id="{3CE73485-31BE-4D5D-805D-EF5909AE4C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4101" y="5387759"/>
            <a:ext cx="414338" cy="23336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ot="0" vert="horz" wrap="square" lIns="91440" tIns="45720" rIns="91440" bIns="45720" anchor="t" anchorCtr="0">
            <a:no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D" sz="9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YES</a:t>
            </a:r>
            <a:endParaRPr lang="en-ID" sz="1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155" name="Connector: Elbow 154">
            <a:extLst>
              <a:ext uri="{FF2B5EF4-FFF2-40B4-BE49-F238E27FC236}">
                <a16:creationId xmlns:a16="http://schemas.microsoft.com/office/drawing/2014/main" xmlns="" id="{866EB80E-FEA5-4193-AFCC-E9CA5DD4686A}"/>
              </a:ext>
            </a:extLst>
          </p:cNvPr>
          <p:cNvCxnSpPr>
            <a:cxnSpLocks/>
          </p:cNvCxnSpPr>
          <p:nvPr/>
        </p:nvCxnSpPr>
        <p:spPr>
          <a:xfrm flipH="1">
            <a:off x="7110739" y="4505759"/>
            <a:ext cx="288000" cy="1764000"/>
          </a:xfrm>
          <a:prstGeom prst="bentConnector3">
            <a:avLst>
              <a:gd name="adj1" fmla="val 237293"/>
            </a:avLst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175342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A8A225D-319B-4B45-8DC4-A370477EDC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36791" y="2263694"/>
            <a:ext cx="10318418" cy="2330612"/>
          </a:xfrm>
        </p:spPr>
        <p:txBody>
          <a:bodyPr/>
          <a:lstStyle/>
          <a:p>
            <a:r>
              <a:rPr lang="en-ID" dirty="0" err="1"/>
              <a:t>Terima</a:t>
            </a:r>
            <a:r>
              <a:rPr lang="en-ID" dirty="0"/>
              <a:t> </a:t>
            </a:r>
            <a:r>
              <a:rPr lang="en-ID" dirty="0" err="1"/>
              <a:t>kasih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73D4958F-B0A2-4DA9-8BB5-07C0030FFC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3313" y="4012151"/>
            <a:ext cx="8045373" cy="742279"/>
          </a:xfrm>
        </p:spPr>
        <p:txBody>
          <a:bodyPr/>
          <a:lstStyle/>
          <a:p>
            <a:r>
              <a:rPr lang="en-ID" dirty="0"/>
              <a:t>Anna &amp; </a:t>
            </a:r>
            <a:r>
              <a:rPr lang="en-ID" dirty="0" err="1"/>
              <a:t>inggar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531309666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xmlns="" Requires="p15">
      <p:transition xmlns:p14="http://schemas.microsoft.com/office/powerpoint/2010/main" spd="slow" p14:dur="3500">
        <p15:prstTrans prst="origami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Badge" id="{71A07785-5930-41D4-9A83-E23602B48E98}" vid="{771EA782-DFA6-45B1-AEA3-661F1715B31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TM10001106[[fn=Badge]]</Template>
  <TotalTime>439</TotalTime>
  <Words>825</Words>
  <Application>Microsoft Office PowerPoint</Application>
  <PresentationFormat>Custom</PresentationFormat>
  <Paragraphs>135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Badge</vt:lpstr>
      <vt:lpstr>RANCANG BANGUN APLIKASI ABSENSI MAHASISWA BERBASIS WEBSITE </vt:lpstr>
      <vt:lpstr>Bab i</vt:lpstr>
      <vt:lpstr>Latar belakang</vt:lpstr>
      <vt:lpstr>Rumusan masalah</vt:lpstr>
      <vt:lpstr>Batasan masalah</vt:lpstr>
      <vt:lpstr>Tujuan dan manfaat</vt:lpstr>
      <vt:lpstr>BAB II</vt:lpstr>
      <vt:lpstr>LANDASAN TEORI</vt:lpstr>
      <vt:lpstr>LANDASAN TEORI</vt:lpstr>
      <vt:lpstr>TOOLS YANG DIGUNAKAN</vt:lpstr>
      <vt:lpstr>TOOLS YANG DIGUNAKAN</vt:lpstr>
      <vt:lpstr>KERANGKa pembuatan APLIKASI</vt:lpstr>
      <vt:lpstr>KERANGKa pembuatan APLIKASI</vt:lpstr>
      <vt:lpstr>Bab iii</vt:lpstr>
      <vt:lpstr>Metodologi Penelitian</vt:lpstr>
      <vt:lpstr>PowerPoint Presentation</vt:lpstr>
      <vt:lpstr>Alat dan bahan</vt:lpstr>
      <vt:lpstr>Analisis sistem</vt:lpstr>
      <vt:lpstr>PowerPoint Presentation</vt:lpstr>
      <vt:lpstr>Terima kasih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RANCANG BANGUN APLIKASI ABSENSI MAHASISWA BERBASIS WEBSITE</dc:title>
  <dc:creator>Inggar</dc:creator>
  <cp:lastModifiedBy>Kadal21</cp:lastModifiedBy>
  <cp:revision>17</cp:revision>
  <dcterms:created xsi:type="dcterms:W3CDTF">2018-05-02T19:02:07Z</dcterms:created>
  <dcterms:modified xsi:type="dcterms:W3CDTF">2018-05-08T03:52:48Z</dcterms:modified>
</cp:coreProperties>
</file>